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View from inside a stone structure, looking out toward stairs and a clear, blue sky"/>
          <p:cNvSpPr/>
          <p:nvPr>
            <p:ph type="pic" idx="21"/>
          </p:nvPr>
        </p:nvSpPr>
        <p:spPr>
          <a:xfrm>
            <a:off x="0" y="-1270000"/>
            <a:ext cx="24384000" cy="1627293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 modern white building with glass panels against a clear, blue sky"/>
          <p:cNvSpPr/>
          <p:nvPr>
            <p:ph type="pic" idx="21"/>
          </p:nvPr>
        </p:nvSpPr>
        <p:spPr>
          <a:xfrm>
            <a:off x="92710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Small section of a modern shell bridge in Qingdao, Shandong, China with a partly cloudy sky above"/>
          <p:cNvSpPr/>
          <p:nvPr>
            <p:ph type="pic" idx="22"/>
          </p:nvPr>
        </p:nvSpPr>
        <p:spPr>
          <a:xfrm>
            <a:off x="9271000" y="1263848"/>
            <a:ext cx="16773843" cy="1118820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Low angle exterior view of a modern building facade covered with aluminum discs under a clear, blue sky"/>
          <p:cNvSpPr/>
          <p:nvPr>
            <p:ph type="pic" sz="quarter" idx="21"/>
          </p:nvPr>
        </p:nvSpPr>
        <p:spPr>
          <a:xfrm>
            <a:off x="15417800" y="1270000"/>
            <a:ext cx="8144934" cy="541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Low angle view of a modern, curved building under a cloudy sky"/>
          <p:cNvSpPr/>
          <p:nvPr>
            <p:ph type="pic" sz="quarter" idx="22"/>
          </p:nvPr>
        </p:nvSpPr>
        <p:spPr>
          <a:xfrm>
            <a:off x="15443200" y="7086600"/>
            <a:ext cx="8138580" cy="5422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View from inside a modern white building with glass panels, looking up to a bright, partly cloudy sky"/>
          <p:cNvSpPr/>
          <p:nvPr>
            <p:ph type="pic" idx="23"/>
          </p:nvPr>
        </p:nvSpPr>
        <p:spPr>
          <a:xfrm>
            <a:off x="-124635" y="1270000"/>
            <a:ext cx="16840169" cy="1124371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Low angle view of the Azadi Tower in Tehran, Iran against a clear, bright sky"/>
          <p:cNvSpPr/>
          <p:nvPr>
            <p:ph type="pic" idx="21"/>
          </p:nvPr>
        </p:nvSpPr>
        <p:spPr>
          <a:xfrm>
            <a:off x="0" y="-1282700"/>
            <a:ext cx="24384000" cy="162814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aulina S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Paulina S </a:t>
            </a:r>
          </a:p>
        </p:txBody>
      </p:sp>
      <p:sp>
        <p:nvSpPr>
          <p:cNvPr id="152" name="Handover Presentation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Handover Presentation</a:t>
            </a:r>
          </a:p>
        </p:txBody>
      </p:sp>
      <p:sp>
        <p:nvSpPr>
          <p:cNvPr id="153" name="Ingen Dynamics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Ingen Dynamics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rogram Overview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Program Overview </a:t>
            </a:r>
          </a:p>
        </p:txBody>
      </p:sp>
      <p:sp>
        <p:nvSpPr>
          <p:cNvPr id="156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7" name="Products analyzed: Fari, Sentinel Prime AI, Senpai…"/>
          <p:cNvSpPr txBox="1"/>
          <p:nvPr>
            <p:ph type="body" sz="quarter" idx="1"/>
          </p:nvPr>
        </p:nvSpPr>
        <p:spPr>
          <a:xfrm>
            <a:off x="1206500" y="4248504"/>
            <a:ext cx="6430877" cy="8256012"/>
          </a:xfrm>
          <a:prstGeom prst="rect">
            <a:avLst/>
          </a:prstGeom>
        </p:spPr>
        <p:txBody>
          <a:bodyPr/>
          <a:lstStyle/>
          <a:p>
            <a:pPr/>
            <a:r>
              <a:t>Products analyzed: Fari, Sentinel Prime AI, Senpai</a:t>
            </a:r>
          </a:p>
          <a:p>
            <a:pPr/>
            <a:r>
              <a:t>Public-data market sizing, segmentation, competitor analysis, and dashboard development</a:t>
            </a:r>
          </a:p>
        </p:txBody>
      </p:sp>
      <p:sp>
        <p:nvSpPr>
          <p:cNvPr id="158" name="Objectives…"/>
          <p:cNvSpPr txBox="1"/>
          <p:nvPr/>
        </p:nvSpPr>
        <p:spPr>
          <a:xfrm>
            <a:off x="8976561" y="4248504"/>
            <a:ext cx="14668845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377952" indent="-377952" algn="l" defTabSz="1511770">
              <a:lnSpc>
                <a:spcPct val="90000"/>
              </a:lnSpc>
              <a:spcBef>
                <a:spcPts val="2700"/>
              </a:spcBef>
              <a:buSzPct val="123000"/>
              <a:buChar char="•"/>
              <a:defRPr b="1" sz="2976">
                <a:solidFill>
                  <a:srgbClr val="000000"/>
                </a:solidFill>
              </a:defRPr>
            </a:pPr>
            <a:r>
              <a:t>Objectives</a:t>
            </a:r>
          </a:p>
          <a:p>
            <a:pPr lvl="1" marL="755904" indent="-377952" algn="l" defTabSz="1511770">
              <a:lnSpc>
                <a:spcPct val="90000"/>
              </a:lnSpc>
              <a:spcBef>
                <a:spcPts val="2700"/>
              </a:spcBef>
              <a:buSzPct val="123000"/>
              <a:buChar char="•"/>
              <a:defRPr sz="2976">
                <a:solidFill>
                  <a:srgbClr val="000000"/>
                </a:solidFill>
              </a:defRPr>
            </a:pPr>
            <a:r>
              <a:t>Evaluate commercial opportunities across three product verticals</a:t>
            </a:r>
          </a:p>
          <a:p>
            <a:pPr lvl="1" marL="755904" indent="-377952" algn="l" defTabSz="1511770">
              <a:lnSpc>
                <a:spcPct val="90000"/>
              </a:lnSpc>
              <a:spcBef>
                <a:spcPts val="2700"/>
              </a:spcBef>
              <a:buSzPct val="123000"/>
              <a:buChar char="•"/>
              <a:defRPr sz="2976">
                <a:solidFill>
                  <a:srgbClr val="000000"/>
                </a:solidFill>
              </a:defRPr>
            </a:pPr>
            <a:r>
              <a:t>Build a reusable market warehouse</a:t>
            </a:r>
          </a:p>
          <a:p>
            <a:pPr lvl="1" marL="755904" indent="-377952" algn="l" defTabSz="1511770">
              <a:lnSpc>
                <a:spcPct val="90000"/>
              </a:lnSpc>
              <a:spcBef>
                <a:spcPts val="2700"/>
              </a:spcBef>
              <a:buSzPct val="123000"/>
              <a:buChar char="•"/>
              <a:defRPr sz="2976">
                <a:solidFill>
                  <a:srgbClr val="000000"/>
                </a:solidFill>
              </a:defRPr>
            </a:pPr>
            <a:r>
              <a:t>Develop customer segmentation methodology</a:t>
            </a:r>
          </a:p>
          <a:p>
            <a:pPr lvl="1" marL="755904" indent="-377952" algn="l" defTabSz="1511770">
              <a:lnSpc>
                <a:spcPct val="90000"/>
              </a:lnSpc>
              <a:spcBef>
                <a:spcPts val="2700"/>
              </a:spcBef>
              <a:buSzPct val="123000"/>
              <a:buChar char="•"/>
              <a:defRPr sz="2976">
                <a:solidFill>
                  <a:srgbClr val="000000"/>
                </a:solidFill>
              </a:defRPr>
            </a:pPr>
            <a:r>
              <a:t>Produce market recommendations</a:t>
            </a:r>
          </a:p>
          <a:p>
            <a:pPr marL="377952" indent="-377952" algn="l" defTabSz="1511770">
              <a:lnSpc>
                <a:spcPct val="90000"/>
              </a:lnSpc>
              <a:spcBef>
                <a:spcPts val="2700"/>
              </a:spcBef>
              <a:buSzPct val="123000"/>
              <a:buChar char="•"/>
              <a:defRPr b="1" sz="2976">
                <a:solidFill>
                  <a:srgbClr val="000000"/>
                </a:solidFill>
              </a:defRPr>
            </a:pPr>
            <a:r>
              <a:t>Essential deliverables</a:t>
            </a:r>
          </a:p>
          <a:p>
            <a:pPr lvl="1" marL="755904" indent="-377952" algn="l" defTabSz="1511770">
              <a:lnSpc>
                <a:spcPct val="90000"/>
              </a:lnSpc>
              <a:spcBef>
                <a:spcPts val="2700"/>
              </a:spcBef>
              <a:buSzPct val="123000"/>
              <a:buChar char="•"/>
              <a:defRPr sz="2976">
                <a:solidFill>
                  <a:srgbClr val="000000"/>
                </a:solidFill>
              </a:defRPr>
            </a:pPr>
            <a:r>
              <a:t>Market analyses</a:t>
            </a:r>
          </a:p>
          <a:p>
            <a:pPr lvl="1" marL="755904" indent="-377952" algn="l" defTabSz="1511770">
              <a:lnSpc>
                <a:spcPct val="90000"/>
              </a:lnSpc>
              <a:spcBef>
                <a:spcPts val="2700"/>
              </a:spcBef>
              <a:buSzPct val="123000"/>
              <a:buChar char="•"/>
              <a:defRPr sz="2976">
                <a:solidFill>
                  <a:srgbClr val="000000"/>
                </a:solidFill>
              </a:defRPr>
            </a:pPr>
            <a:r>
              <a:t>SQL warehouse</a:t>
            </a:r>
          </a:p>
          <a:p>
            <a:pPr lvl="1" marL="755904" indent="-377952" algn="l" defTabSz="1511770">
              <a:lnSpc>
                <a:spcPct val="90000"/>
              </a:lnSpc>
              <a:spcBef>
                <a:spcPts val="2700"/>
              </a:spcBef>
              <a:buSzPct val="123000"/>
              <a:buChar char="•"/>
              <a:defRPr sz="2976">
                <a:solidFill>
                  <a:srgbClr val="000000"/>
                </a:solidFill>
              </a:defRPr>
            </a:pPr>
            <a:r>
              <a:t>Clustering analysis</a:t>
            </a:r>
          </a:p>
          <a:p>
            <a:pPr lvl="1" marL="755904" indent="-377952" algn="l" defTabSz="1511770">
              <a:lnSpc>
                <a:spcPct val="90000"/>
              </a:lnSpc>
              <a:spcBef>
                <a:spcPts val="2700"/>
              </a:spcBef>
              <a:buSzPct val="123000"/>
              <a:buChar char="•"/>
              <a:defRPr sz="2976">
                <a:solidFill>
                  <a:srgbClr val="000000"/>
                </a:solidFill>
              </a:defRPr>
            </a:pPr>
            <a:r>
              <a:t>Interactive dashboard</a:t>
            </a:r>
          </a:p>
          <a:p>
            <a:pPr lvl="1" marL="755904" indent="-377952" algn="l" defTabSz="1511770">
              <a:lnSpc>
                <a:spcPct val="90000"/>
              </a:lnSpc>
              <a:spcBef>
                <a:spcPts val="2700"/>
              </a:spcBef>
              <a:buSzPct val="123000"/>
              <a:buChar char="•"/>
              <a:defRPr sz="2976">
                <a:solidFill>
                  <a:srgbClr val="000000"/>
                </a:solidFill>
              </a:defRPr>
            </a:pPr>
            <a:r>
              <a:t>Executive memo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750">
        <p:push dir="l"/>
      </p:transition>
    </mc:Choice>
    <mc:Fallback>
      <p:transition spd="fast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search Methodolog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Research Methodology</a:t>
            </a:r>
          </a:p>
        </p:txBody>
      </p:sp>
      <p:sp>
        <p:nvSpPr>
          <p:cNvPr id="161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2" name="Public data sources used…"/>
          <p:cNvSpPr txBox="1"/>
          <p:nvPr>
            <p:ph type="body" sz="quarter" idx="1"/>
          </p:nvPr>
        </p:nvSpPr>
        <p:spPr>
          <a:xfrm>
            <a:off x="1206500" y="4248504"/>
            <a:ext cx="8090115" cy="8256012"/>
          </a:xfrm>
          <a:prstGeom prst="rect">
            <a:avLst/>
          </a:prstGeom>
        </p:spPr>
        <p:txBody>
          <a:bodyPr/>
          <a:lstStyle/>
          <a:p>
            <a:pPr marL="316991" indent="-316991" defTabSz="1267936">
              <a:spcBef>
                <a:spcPts val="2300"/>
              </a:spcBef>
              <a:defRPr b="1" sz="2496"/>
            </a:pPr>
            <a:r>
              <a:t>Public data sources used</a:t>
            </a:r>
          </a:p>
          <a:p>
            <a:pPr lvl="1" marL="633983" indent="-316991" defTabSz="1267936">
              <a:spcBef>
                <a:spcPts val="2300"/>
              </a:spcBef>
              <a:defRPr sz="2496"/>
            </a:pPr>
            <a:r>
              <a:t>US Census</a:t>
            </a:r>
          </a:p>
          <a:p>
            <a:pPr lvl="1" marL="633983" indent="-316991" defTabSz="1267936">
              <a:spcBef>
                <a:spcPts val="2300"/>
              </a:spcBef>
              <a:defRPr sz="2496"/>
            </a:pPr>
            <a:r>
              <a:t>BLS</a:t>
            </a:r>
          </a:p>
          <a:p>
            <a:pPr lvl="1" marL="633983" indent="-316991" defTabSz="1267936">
              <a:spcBef>
                <a:spcPts val="2300"/>
              </a:spcBef>
              <a:defRPr sz="2496"/>
            </a:pPr>
            <a:r>
              <a:t>OECD</a:t>
            </a:r>
          </a:p>
          <a:p>
            <a:pPr lvl="1" marL="633983" indent="-316991" defTabSz="1267936">
              <a:spcBef>
                <a:spcPts val="2300"/>
              </a:spcBef>
              <a:defRPr sz="2496"/>
            </a:pPr>
            <a:r>
              <a:t>Pew Research</a:t>
            </a:r>
          </a:p>
          <a:p>
            <a:pPr lvl="1" marL="633983" indent="-316991" defTabSz="1267936">
              <a:spcBef>
                <a:spcPts val="2300"/>
              </a:spcBef>
              <a:defRPr sz="2496"/>
            </a:pPr>
            <a:r>
              <a:t>Security Industry Association</a:t>
            </a:r>
          </a:p>
          <a:p>
            <a:pPr lvl="1" marL="633983" indent="-316991" defTabSz="1267936">
              <a:spcBef>
                <a:spcPts val="2300"/>
              </a:spcBef>
              <a:defRPr sz="2496"/>
            </a:pPr>
            <a:r>
              <a:t>SEC EDGAR</a:t>
            </a:r>
          </a:p>
          <a:p>
            <a:pPr lvl="1" marL="633983" indent="-316991" defTabSz="1267936">
              <a:spcBef>
                <a:spcPts val="2300"/>
              </a:spcBef>
              <a:defRPr sz="2496"/>
            </a:pPr>
            <a:r>
              <a:t>JSAER</a:t>
            </a:r>
          </a:p>
          <a:p>
            <a:pPr lvl="1" marL="633983" indent="-316991" defTabSz="1267936">
              <a:spcBef>
                <a:spcPts val="2300"/>
              </a:spcBef>
              <a:defRPr sz="2496"/>
            </a:pPr>
            <a:r>
              <a:t>arXiv</a:t>
            </a:r>
          </a:p>
          <a:p>
            <a:pPr lvl="1" marL="633983" indent="-316991" defTabSz="1267936">
              <a:spcBef>
                <a:spcPts val="2300"/>
              </a:spcBef>
              <a:defRPr sz="2496"/>
            </a:pPr>
            <a:r>
              <a:t>NIH</a:t>
            </a:r>
          </a:p>
          <a:p>
            <a:pPr lvl="1" marL="633983" indent="-316991" defTabSz="1267936">
              <a:spcBef>
                <a:spcPts val="2300"/>
              </a:spcBef>
              <a:defRPr sz="2496"/>
            </a:pPr>
            <a:r>
              <a:t>NCES</a:t>
            </a:r>
          </a:p>
          <a:p>
            <a:pPr lvl="1" marL="633983" indent="-316991" defTabSz="1267936">
              <a:spcBef>
                <a:spcPts val="2300"/>
              </a:spcBef>
              <a:defRPr sz="2496"/>
            </a:pPr>
            <a:r>
              <a:t>Learning Policy Institute</a:t>
            </a:r>
          </a:p>
          <a:p>
            <a:pPr lvl="1" marL="633983" indent="-316991" defTabSz="1267936">
              <a:spcBef>
                <a:spcPts val="2300"/>
              </a:spcBef>
              <a:defRPr sz="2496"/>
            </a:pPr>
            <a:r>
              <a:t>Competitor websites </a:t>
            </a:r>
          </a:p>
        </p:txBody>
      </p:sp>
      <p:sp>
        <p:nvSpPr>
          <p:cNvPr id="163" name="Evaluation methods…"/>
          <p:cNvSpPr txBox="1"/>
          <p:nvPr/>
        </p:nvSpPr>
        <p:spPr>
          <a:xfrm>
            <a:off x="10883196" y="4248504"/>
            <a:ext cx="8090116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6096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1" sz="4800">
                <a:solidFill>
                  <a:srgbClr val="000000"/>
                </a:solidFill>
              </a:defRPr>
            </a:pPr>
            <a:r>
              <a:t>Evaluation methods</a:t>
            </a:r>
          </a:p>
          <a:p>
            <a:pPr lvl="1" marL="12192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000000"/>
                </a:solidFill>
              </a:defRPr>
            </a:pPr>
            <a:r>
              <a:t>Top-down market sizing</a:t>
            </a:r>
          </a:p>
          <a:p>
            <a:pPr lvl="1" marL="12192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000000"/>
                </a:solidFill>
              </a:defRPr>
            </a:pPr>
            <a:r>
              <a:t>Bottom-up market sizing</a:t>
            </a:r>
          </a:p>
          <a:p>
            <a:pPr lvl="1" marL="12192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000000"/>
                </a:solidFill>
              </a:defRPr>
            </a:pPr>
            <a:r>
              <a:t>Competitor benchmarking</a:t>
            </a:r>
          </a:p>
          <a:p>
            <a:pPr lvl="1" marL="12192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000000"/>
                </a:solidFill>
              </a:defRPr>
            </a:pPr>
            <a:r>
              <a:t>K-Means clustering</a:t>
            </a:r>
          </a:p>
          <a:p>
            <a:pPr lvl="1" marL="12192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000000"/>
                </a:solidFill>
              </a:defRPr>
            </a:pPr>
            <a:r>
              <a:t>SQL warehouse design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750">
        <p:push dir="l"/>
      </p:transition>
    </mc:Choice>
    <mc:Fallback>
      <p:transition spd="fast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Fari Market Opportunit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Fari Market Opportunity </a:t>
            </a:r>
          </a:p>
        </p:txBody>
      </p:sp>
      <p:sp>
        <p:nvSpPr>
          <p:cNvPr id="166" name="Data: US Census, Pew, OECD, BLS, NIH"/>
          <p:cNvSpPr txBox="1"/>
          <p:nvPr>
            <p:ph type="body" idx="21"/>
          </p:nvPr>
        </p:nvSpPr>
        <p:spPr>
          <a:xfrm>
            <a:off x="1206500" y="2423762"/>
            <a:ext cx="8581553" cy="9347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528319">
              <a:defRPr sz="3520"/>
            </a:lvl1pPr>
          </a:lstStyle>
          <a:p>
            <a:pPr/>
            <a:r>
              <a:t>Data: US Census, Pew, OECD, BLS, NIH</a:t>
            </a:r>
          </a:p>
        </p:txBody>
      </p:sp>
      <p:sp>
        <p:nvSpPr>
          <p:cNvPr id="167" name="Total Addressable Market:…"/>
          <p:cNvSpPr txBox="1"/>
          <p:nvPr>
            <p:ph type="body" sz="quarter" idx="1"/>
          </p:nvPr>
        </p:nvSpPr>
        <p:spPr>
          <a:xfrm>
            <a:off x="1206500" y="4248504"/>
            <a:ext cx="7224252" cy="8256012"/>
          </a:xfrm>
          <a:prstGeom prst="rect">
            <a:avLst/>
          </a:prstGeom>
        </p:spPr>
        <p:txBody>
          <a:bodyPr/>
          <a:lstStyle/>
          <a:p>
            <a:pPr/>
            <a:r>
              <a:rPr b="1"/>
              <a:t>Total Addressable Market:</a:t>
            </a:r>
          </a:p>
          <a:p>
            <a:pPr/>
            <a:r>
              <a:t>12.3 million potential users</a:t>
            </a:r>
          </a:p>
          <a:p>
            <a:pPr/>
            <a:r>
              <a:rPr b="1"/>
              <a:t>Serviceable</a:t>
            </a:r>
            <a:r>
              <a:t> </a:t>
            </a:r>
            <a:r>
              <a:rPr b="1"/>
              <a:t>Addressable Market:</a:t>
            </a:r>
            <a:endParaRPr b="1"/>
          </a:p>
          <a:p>
            <a:pPr/>
            <a:r>
              <a:t>5.2 million seniors (living alone)</a:t>
            </a:r>
          </a:p>
        </p:txBody>
      </p:sp>
      <p:sp>
        <p:nvSpPr>
          <p:cNvPr id="168" name="Primary drivers…"/>
          <p:cNvSpPr txBox="1"/>
          <p:nvPr/>
        </p:nvSpPr>
        <p:spPr>
          <a:xfrm>
            <a:off x="8579874" y="4248504"/>
            <a:ext cx="7224252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6096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000000"/>
                </a:solidFill>
              </a:defRPr>
            </a:pPr>
            <a:r>
              <a:rPr b="1"/>
              <a:t>Primary drivers</a:t>
            </a:r>
            <a:endParaRPr b="1"/>
          </a:p>
          <a:p>
            <a:pPr lvl="1" marL="12192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000000"/>
                </a:solidFill>
              </a:defRPr>
            </a:pPr>
            <a:r>
              <a:t>Aging population</a:t>
            </a:r>
          </a:p>
          <a:p>
            <a:pPr lvl="1" marL="12192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000000"/>
                </a:solidFill>
              </a:defRPr>
            </a:pPr>
            <a:r>
              <a:t>Caregiver shortages</a:t>
            </a:r>
          </a:p>
          <a:p>
            <a:pPr lvl="1" marL="12192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000000"/>
                </a:solidFill>
              </a:defRPr>
            </a:pPr>
            <a:r>
              <a:t>Rising care costs</a:t>
            </a:r>
          </a:p>
          <a:p>
            <a:pPr lvl="1" marL="12192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000000"/>
                </a:solidFill>
              </a:defRPr>
            </a:pPr>
            <a:r>
              <a:t>Increasing technology adoption among seniors</a:t>
            </a:r>
          </a:p>
        </p:txBody>
      </p:sp>
      <p:sp>
        <p:nvSpPr>
          <p:cNvPr id="169" name="Key Risk…"/>
          <p:cNvSpPr txBox="1"/>
          <p:nvPr/>
        </p:nvSpPr>
        <p:spPr>
          <a:xfrm>
            <a:off x="15953248" y="4248504"/>
            <a:ext cx="7224253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6096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000000"/>
                </a:solidFill>
              </a:defRPr>
            </a:pPr>
            <a:r>
              <a:rPr b="1"/>
              <a:t>Key Risk</a:t>
            </a:r>
            <a:endParaRPr b="1"/>
          </a:p>
          <a:p>
            <a:pPr lvl="1" marL="12192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000000"/>
                </a:solidFill>
              </a:defRPr>
            </a:pPr>
            <a:r>
              <a:t>Adoption and trust barriers</a:t>
            </a:r>
          </a:p>
          <a:p>
            <a:pPr lvl="1" marL="12192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000000"/>
                </a:solidFill>
              </a:defRPr>
            </a:pPr>
            <a:r>
              <a:t>Human care replicability concerns</a:t>
            </a:r>
          </a:p>
          <a:p>
            <a:pPr lvl="1" marL="12192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000000"/>
                </a:solidFill>
              </a:defRPr>
            </a:pPr>
            <a:r>
              <a:t>Affordability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750">
        <p:push dir="l"/>
      </p:transition>
    </mc:Choice>
    <mc:Fallback>
      <p:transition spd="fast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entinel Prime AI Market Opportunit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Sentinel Prime AI Market Opportunity</a:t>
            </a:r>
          </a:p>
        </p:txBody>
      </p:sp>
      <p:sp>
        <p:nvSpPr>
          <p:cNvPr id="172" name="Total Addressable Market:…"/>
          <p:cNvSpPr txBox="1"/>
          <p:nvPr>
            <p:ph type="body" sz="quarter" idx="1"/>
          </p:nvPr>
        </p:nvSpPr>
        <p:spPr>
          <a:xfrm>
            <a:off x="1206500" y="4248504"/>
            <a:ext cx="7224252" cy="8256012"/>
          </a:xfrm>
          <a:prstGeom prst="rect">
            <a:avLst/>
          </a:prstGeom>
        </p:spPr>
        <p:txBody>
          <a:bodyPr/>
          <a:lstStyle/>
          <a:p>
            <a:pPr/>
            <a:r>
              <a:rPr b="1"/>
              <a:t>Total Addressable Market:</a:t>
            </a:r>
          </a:p>
          <a:p>
            <a:pPr/>
            <a:r>
              <a:t>$43.4 billion</a:t>
            </a:r>
          </a:p>
          <a:p>
            <a:pPr/>
            <a:r>
              <a:rPr b="1"/>
              <a:t>Serviceable</a:t>
            </a:r>
            <a:r>
              <a:t> </a:t>
            </a:r>
            <a:r>
              <a:rPr b="1"/>
              <a:t>Addressable Market:</a:t>
            </a:r>
            <a:endParaRPr b="1"/>
          </a:p>
          <a:p>
            <a:pPr/>
            <a:r>
              <a:t>$34.0 billion</a:t>
            </a:r>
          </a:p>
        </p:txBody>
      </p:sp>
      <p:sp>
        <p:nvSpPr>
          <p:cNvPr id="173" name="Primary drivers…"/>
          <p:cNvSpPr txBox="1"/>
          <p:nvPr/>
        </p:nvSpPr>
        <p:spPr>
          <a:xfrm>
            <a:off x="8579874" y="4248504"/>
            <a:ext cx="7224253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603504" indent="-603504" algn="l" defTabSz="2413955">
              <a:lnSpc>
                <a:spcPct val="90000"/>
              </a:lnSpc>
              <a:spcBef>
                <a:spcPts val="4400"/>
              </a:spcBef>
              <a:buSzPct val="123000"/>
              <a:buChar char="•"/>
              <a:defRPr sz="4752">
                <a:solidFill>
                  <a:srgbClr val="000000"/>
                </a:solidFill>
              </a:defRPr>
            </a:pPr>
            <a:r>
              <a:rPr b="1"/>
              <a:t>Primary drivers</a:t>
            </a:r>
            <a:endParaRPr b="1"/>
          </a:p>
          <a:p>
            <a:pPr lvl="1" marL="1207008" indent="-603504" algn="l" defTabSz="2413955">
              <a:lnSpc>
                <a:spcPct val="90000"/>
              </a:lnSpc>
              <a:spcBef>
                <a:spcPts val="4400"/>
              </a:spcBef>
              <a:buSzPct val="123000"/>
              <a:buChar char="•"/>
              <a:defRPr sz="4752">
                <a:solidFill>
                  <a:srgbClr val="000000"/>
                </a:solidFill>
              </a:defRPr>
            </a:pPr>
            <a:r>
              <a:t>Security workforce shortages</a:t>
            </a:r>
          </a:p>
          <a:p>
            <a:pPr lvl="1" marL="1207008" indent="-603504" algn="l" defTabSz="2413955">
              <a:lnSpc>
                <a:spcPct val="90000"/>
              </a:lnSpc>
              <a:spcBef>
                <a:spcPts val="4400"/>
              </a:spcBef>
              <a:buSzPct val="123000"/>
              <a:buChar char="•"/>
              <a:defRPr sz="4752">
                <a:solidFill>
                  <a:srgbClr val="000000"/>
                </a:solidFill>
              </a:defRPr>
            </a:pPr>
            <a:r>
              <a:t>Rising labor costs</a:t>
            </a:r>
          </a:p>
          <a:p>
            <a:pPr lvl="1" marL="1207008" indent="-603504" algn="l" defTabSz="2413955">
              <a:lnSpc>
                <a:spcPct val="90000"/>
              </a:lnSpc>
              <a:spcBef>
                <a:spcPts val="4400"/>
              </a:spcBef>
              <a:buSzPct val="123000"/>
              <a:buChar char="•"/>
              <a:defRPr sz="4752">
                <a:solidFill>
                  <a:srgbClr val="000000"/>
                </a:solidFill>
              </a:defRPr>
            </a:pPr>
            <a:r>
              <a:t>AI surveillance adoption</a:t>
            </a:r>
          </a:p>
          <a:p>
            <a:pPr lvl="1" marL="1207008" indent="-603504" algn="l" defTabSz="2413955">
              <a:lnSpc>
                <a:spcPct val="90000"/>
              </a:lnSpc>
              <a:spcBef>
                <a:spcPts val="4400"/>
              </a:spcBef>
              <a:buSzPct val="123000"/>
              <a:buChar char="•"/>
              <a:defRPr sz="4752">
                <a:solidFill>
                  <a:srgbClr val="000000"/>
                </a:solidFill>
              </a:defRPr>
            </a:pPr>
            <a:r>
              <a:t>Increasing operational complexity</a:t>
            </a:r>
          </a:p>
        </p:txBody>
      </p:sp>
      <p:sp>
        <p:nvSpPr>
          <p:cNvPr id="174" name="Key Risk…"/>
          <p:cNvSpPr txBox="1"/>
          <p:nvPr/>
        </p:nvSpPr>
        <p:spPr>
          <a:xfrm>
            <a:off x="15953249" y="4248504"/>
            <a:ext cx="7224252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6096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000000"/>
                </a:solidFill>
              </a:defRPr>
            </a:pPr>
            <a:r>
              <a:rPr b="1"/>
              <a:t>Key Risk</a:t>
            </a:r>
            <a:endParaRPr b="1"/>
          </a:p>
          <a:p>
            <a:pPr lvl="1" marL="12192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000000"/>
                </a:solidFill>
              </a:defRPr>
            </a:pPr>
            <a:r>
              <a:t>Privacy and regulatory concerns</a:t>
            </a:r>
          </a:p>
          <a:p>
            <a:pPr lvl="1" marL="12192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000000"/>
                </a:solidFill>
              </a:defRPr>
            </a:pPr>
            <a:r>
              <a:t>Demographic discrimination </a:t>
            </a:r>
          </a:p>
        </p:txBody>
      </p:sp>
      <p:sp>
        <p:nvSpPr>
          <p:cNvPr id="175" name="Data: BLS, SIA, SEC EDGAR, JSAER, arXiv"/>
          <p:cNvSpPr txBox="1"/>
          <p:nvPr/>
        </p:nvSpPr>
        <p:spPr>
          <a:xfrm>
            <a:off x="1206499" y="2423762"/>
            <a:ext cx="883566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l" defTabSz="511809">
              <a:defRPr b="1" sz="3409">
                <a:solidFill>
                  <a:srgbClr val="000000"/>
                </a:solidFill>
              </a:defRPr>
            </a:lvl1pPr>
          </a:lstStyle>
          <a:p>
            <a:pPr/>
            <a:r>
              <a:t>Data: BLS, SIA, SEC EDGAR, JSAER, arXiv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750">
        <p:push dir="l"/>
      </p:transition>
    </mc:Choice>
    <mc:Fallback>
      <p:transition spd="fast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enpai Market Opportunit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Senpai Market Opportunity</a:t>
            </a:r>
          </a:p>
        </p:txBody>
      </p:sp>
      <p:sp>
        <p:nvSpPr>
          <p:cNvPr id="178" name="Data: Kaggle dataset (Global AI in Education Dataset 2015–2026: Adoption, EdTech, Policy Trends Usage),…"/>
          <p:cNvSpPr txBox="1"/>
          <p:nvPr>
            <p:ph type="body" idx="21"/>
          </p:nvPr>
        </p:nvSpPr>
        <p:spPr>
          <a:xfrm>
            <a:off x="1206500" y="2372962"/>
            <a:ext cx="21971000" cy="143316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defTabSz="437514">
              <a:defRPr sz="2914"/>
            </a:pPr>
            <a:r>
              <a:t>Data: Kaggle dataset (Global AI in Education Dataset 2015–2026: Adoption, EdTech, Policy Trends Usage), </a:t>
            </a:r>
          </a:p>
          <a:p>
            <a:pPr defTabSz="437514">
              <a:defRPr sz="2914"/>
            </a:pPr>
            <a:r>
              <a:t>Learning Policy Institute, NCES</a:t>
            </a:r>
          </a:p>
        </p:txBody>
      </p:sp>
      <p:sp>
        <p:nvSpPr>
          <p:cNvPr id="179" name="Key Finding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566927" indent="-566927" defTabSz="2267655">
              <a:spcBef>
                <a:spcPts val="4100"/>
              </a:spcBef>
              <a:defRPr b="1" sz="4464"/>
            </a:pPr>
            <a:r>
              <a:t>Key Findings</a:t>
            </a:r>
          </a:p>
          <a:p>
            <a:pPr lvl="1" marL="1133855" indent="-566927" defTabSz="2267655">
              <a:spcBef>
                <a:spcPts val="4100"/>
              </a:spcBef>
              <a:defRPr sz="4464"/>
            </a:pPr>
            <a:r>
              <a:t>United States identified as highest-readiness market</a:t>
            </a:r>
          </a:p>
          <a:p>
            <a:pPr lvl="1" marL="1133855" indent="-566927" defTabSz="2267655">
              <a:spcBef>
                <a:spcPts val="4100"/>
              </a:spcBef>
              <a:defRPr sz="4464"/>
            </a:pPr>
            <a:r>
              <a:t>49.5 million public school students</a:t>
            </a:r>
          </a:p>
          <a:p>
            <a:pPr lvl="1" marL="1133855" indent="-566927" defTabSz="2267655">
              <a:spcBef>
                <a:spcPts val="4100"/>
              </a:spcBef>
              <a:defRPr sz="4464"/>
            </a:pPr>
            <a:r>
              <a:t>Significant teacher shortages</a:t>
            </a:r>
          </a:p>
          <a:p>
            <a:pPr lvl="1" marL="1133855" indent="-566927" defTabSz="2267655">
              <a:spcBef>
                <a:spcPts val="4100"/>
              </a:spcBef>
              <a:defRPr sz="4464"/>
            </a:pPr>
            <a:r>
              <a:t>Strong tech infrastructure readiness</a:t>
            </a:r>
          </a:p>
          <a:p>
            <a:pPr marL="566927" indent="-566927" defTabSz="2267655">
              <a:spcBef>
                <a:spcPts val="4100"/>
              </a:spcBef>
              <a:defRPr b="1" sz="4464"/>
            </a:pPr>
            <a:r>
              <a:t>Key Insight</a:t>
            </a:r>
          </a:p>
          <a:p>
            <a:pPr lvl="1" marL="1133855" indent="-566927" defTabSz="2267655">
              <a:spcBef>
                <a:spcPts val="4100"/>
              </a:spcBef>
              <a:defRPr sz="4464"/>
            </a:pPr>
            <a:r>
              <a:t>Implementation capacity appears to be a stronger predictor of educational AI adoption than demand alone.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750">
        <p:push dir="l"/>
      </p:transition>
    </mc:Choice>
    <mc:Fallback>
      <p:transition spd="fast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Competitive Position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Competitive Positioning</a:t>
            </a:r>
          </a:p>
        </p:txBody>
      </p:sp>
      <p:sp>
        <p:nvSpPr>
          <p:cNvPr id="182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3" name="Fari (eldercare)…"/>
          <p:cNvSpPr txBox="1"/>
          <p:nvPr>
            <p:ph type="body" sz="quarter" idx="1"/>
          </p:nvPr>
        </p:nvSpPr>
        <p:spPr>
          <a:xfrm>
            <a:off x="1206500" y="4248504"/>
            <a:ext cx="6632353" cy="8256012"/>
          </a:xfrm>
          <a:prstGeom prst="rect">
            <a:avLst/>
          </a:prstGeom>
        </p:spPr>
        <p:txBody>
          <a:bodyPr/>
          <a:lstStyle/>
          <a:p>
            <a:pPr marL="487680" indent="-487680" defTabSz="1950671">
              <a:spcBef>
                <a:spcPts val="3600"/>
              </a:spcBef>
              <a:defRPr b="1" sz="3840"/>
            </a:pPr>
            <a:r>
              <a:t>Fari (eldercare)</a:t>
            </a:r>
          </a:p>
          <a:p>
            <a:pPr marL="487680" indent="-487680" defTabSz="1950671">
              <a:spcBef>
                <a:spcPts val="3600"/>
              </a:spcBef>
              <a:defRPr sz="3840"/>
            </a:pPr>
            <a:r>
              <a:t>Competitors often focus on companionship OR health support</a:t>
            </a:r>
          </a:p>
          <a:p>
            <a:pPr marL="487680" indent="-487680" defTabSz="1950671">
              <a:spcBef>
                <a:spcPts val="3600"/>
              </a:spcBef>
              <a:defRPr b="1" sz="3840"/>
            </a:pPr>
            <a:r>
              <a:t>Sentinel (security)</a:t>
            </a:r>
          </a:p>
          <a:p>
            <a:pPr marL="487680" indent="-487680" defTabSz="1950671">
              <a:spcBef>
                <a:spcPts val="3600"/>
              </a:spcBef>
              <a:defRPr sz="3840"/>
            </a:pPr>
            <a:r>
              <a:t>Competitors focus on robotics OR video analytics</a:t>
            </a:r>
          </a:p>
          <a:p>
            <a:pPr marL="487680" indent="-487680" defTabSz="1950671">
              <a:spcBef>
                <a:spcPts val="3600"/>
              </a:spcBef>
              <a:defRPr b="1" sz="3840"/>
            </a:pPr>
            <a:r>
              <a:t>Senpai (education)</a:t>
            </a:r>
          </a:p>
          <a:p>
            <a:pPr marL="487680" indent="-487680" defTabSz="1950671">
              <a:spcBef>
                <a:spcPts val="3600"/>
              </a:spcBef>
              <a:defRPr sz="3840"/>
            </a:pPr>
            <a:r>
              <a:t>Many competitors remain software-only</a:t>
            </a:r>
          </a:p>
        </p:txBody>
      </p:sp>
      <p:sp>
        <p:nvSpPr>
          <p:cNvPr id="184" name="InGen Advantage…"/>
          <p:cNvSpPr txBox="1"/>
          <p:nvPr/>
        </p:nvSpPr>
        <p:spPr>
          <a:xfrm>
            <a:off x="11486554" y="4248504"/>
            <a:ext cx="11700672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6096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1" sz="4800">
                <a:solidFill>
                  <a:srgbClr val="000000"/>
                </a:solidFill>
              </a:defRPr>
            </a:pPr>
            <a:r>
              <a:t>InGen Advantage</a:t>
            </a:r>
          </a:p>
          <a:p>
            <a:pPr lvl="1" marL="12192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000000"/>
                </a:solidFill>
              </a:defRPr>
            </a:pPr>
            <a:r>
              <a:t>Integrated platform approach</a:t>
            </a:r>
          </a:p>
          <a:p>
            <a:pPr lvl="1" marL="12192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000000"/>
                </a:solidFill>
              </a:defRPr>
            </a:pPr>
            <a:r>
              <a:t>Shared Origami AI architecture</a:t>
            </a:r>
          </a:p>
          <a:p>
            <a:pPr lvl="1" marL="12192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000000"/>
                </a:solidFill>
              </a:defRPr>
            </a:pPr>
            <a:r>
              <a:t>Multiple sensing technologies</a:t>
            </a:r>
          </a:p>
          <a:p>
            <a:pPr lvl="1" marL="12192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000000"/>
                </a:solidFill>
              </a:defRPr>
            </a:pPr>
            <a:r>
              <a:t>Embedded governance controls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750">
        <p:push dir="l"/>
      </p:transition>
    </mc:Choice>
    <mc:Fallback>
      <p:transition spd="fast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Customer Segmentation Analysi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Customer Segmentation Analysis</a:t>
            </a:r>
          </a:p>
        </p:txBody>
      </p:sp>
      <p:sp>
        <p:nvSpPr>
          <p:cNvPr id="187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8" name="Three Segments Identified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Three Segments Identified</a:t>
            </a:r>
          </a:p>
          <a:p>
            <a:pPr lvl="1"/>
            <a:r>
              <a:t>Cluster 0: Emerging Growth Markets</a:t>
            </a:r>
          </a:p>
          <a:p>
            <a:pPr lvl="1"/>
            <a:r>
              <a:t>Cluster 1: Established Education Markets</a:t>
            </a:r>
          </a:p>
          <a:p>
            <a:pPr lvl="1"/>
            <a:r>
              <a:t>Cluster 2: High-Readiness Market (United States)</a:t>
            </a:r>
          </a:p>
          <a:p>
            <a:pPr>
              <a:defRPr b="1"/>
            </a:pPr>
            <a:r>
              <a:t>Key Insight</a:t>
            </a:r>
          </a:p>
          <a:p>
            <a:pPr lvl="1"/>
            <a:r>
              <a:t>Tech/internet infrastructure readiness and implementation capacity (policy and budget) drive adoption more strongly than user AI interest alone.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750">
        <p:push dir="l"/>
      </p:transition>
    </mc:Choice>
    <mc:Fallback>
      <p:transition spd="fast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trategic Recommendation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Strategic Recommendations</a:t>
            </a:r>
          </a:p>
        </p:txBody>
      </p:sp>
      <p:sp>
        <p:nvSpPr>
          <p:cNvPr id="191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2" name="Priority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69391" indent="-469391" defTabSz="1877520">
              <a:spcBef>
                <a:spcPts val="3400"/>
              </a:spcBef>
              <a:defRPr b="1" sz="3696"/>
            </a:pPr>
            <a:r>
              <a:t>Priority 1</a:t>
            </a:r>
          </a:p>
          <a:p>
            <a:pPr lvl="1" marL="938783" indent="-469391" defTabSz="1877520">
              <a:spcBef>
                <a:spcPts val="3400"/>
              </a:spcBef>
              <a:defRPr sz="3696"/>
            </a:pPr>
            <a:r>
              <a:t>Sentinel Prime AI</a:t>
            </a:r>
          </a:p>
          <a:p>
            <a:pPr lvl="1" marL="938783" indent="-469391" defTabSz="1877520">
              <a:spcBef>
                <a:spcPts val="3400"/>
              </a:spcBef>
              <a:defRPr sz="3696"/>
            </a:pPr>
            <a:r>
              <a:t>Largest quantified market opportunity</a:t>
            </a:r>
          </a:p>
          <a:p>
            <a:pPr marL="469391" indent="-469391" defTabSz="1877520">
              <a:spcBef>
                <a:spcPts val="3400"/>
              </a:spcBef>
              <a:defRPr b="1" sz="3696"/>
            </a:pPr>
            <a:r>
              <a:t>Priority 2</a:t>
            </a:r>
          </a:p>
          <a:p>
            <a:pPr lvl="1" marL="938783" indent="-469391" defTabSz="1877520">
              <a:spcBef>
                <a:spcPts val="3400"/>
              </a:spcBef>
              <a:defRPr sz="3696"/>
            </a:pPr>
            <a:r>
              <a:t>Fari</a:t>
            </a:r>
          </a:p>
          <a:p>
            <a:pPr lvl="1" marL="938783" indent="-469391" defTabSz="1877520">
              <a:spcBef>
                <a:spcPts val="3400"/>
              </a:spcBef>
              <a:defRPr sz="3696"/>
            </a:pPr>
            <a:r>
              <a:t>Strong demographic trends</a:t>
            </a:r>
          </a:p>
          <a:p>
            <a:pPr marL="469391" indent="-469391" defTabSz="1877520">
              <a:spcBef>
                <a:spcPts val="3400"/>
              </a:spcBef>
              <a:defRPr b="1" sz="3696"/>
            </a:pPr>
            <a:r>
              <a:t>Priority 3</a:t>
            </a:r>
          </a:p>
          <a:p>
            <a:pPr lvl="1" marL="938783" indent="-469391" defTabSz="1877520">
              <a:spcBef>
                <a:spcPts val="3400"/>
              </a:spcBef>
              <a:defRPr sz="3696"/>
            </a:pPr>
            <a:r>
              <a:t>Senpai</a:t>
            </a:r>
          </a:p>
          <a:p>
            <a:pPr lvl="1" marL="938783" indent="-469391" defTabSz="1877520">
              <a:spcBef>
                <a:spcPts val="3400"/>
              </a:spcBef>
              <a:defRPr sz="3696"/>
            </a:pPr>
            <a:r>
              <a:t>Promising market but requires additional commercial validation and research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750">
        <p:push dir="l"/>
      </p:transition>
    </mc:Choice>
    <mc:Fallback>
      <p:transition spd="fast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Key Risks &amp; Uncertainti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Key Risks &amp; Uncertainties</a:t>
            </a:r>
          </a:p>
        </p:txBody>
      </p:sp>
      <p:sp>
        <p:nvSpPr>
          <p:cNvPr id="195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6" name="Unknowns to the analysis…"/>
          <p:cNvSpPr txBox="1"/>
          <p:nvPr>
            <p:ph type="body" sz="half" idx="1"/>
          </p:nvPr>
        </p:nvSpPr>
        <p:spPr>
          <a:xfrm>
            <a:off x="1206500" y="4248504"/>
            <a:ext cx="8590647" cy="8256012"/>
          </a:xfrm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Unknowns to the analysis</a:t>
            </a:r>
          </a:p>
          <a:p>
            <a:pPr lvl="1"/>
            <a:r>
              <a:t>Customer willingness to purchase</a:t>
            </a:r>
          </a:p>
          <a:p>
            <a:pPr lvl="1"/>
            <a:r>
              <a:t>Pricing sensitivity</a:t>
            </a:r>
          </a:p>
          <a:p>
            <a:pPr lvl="1"/>
            <a:r>
              <a:t>Distribution effectiveness</a:t>
            </a:r>
          </a:p>
          <a:p>
            <a:pPr lvl="1"/>
            <a:r>
              <a:t>Regulatory evolution</a:t>
            </a:r>
          </a:p>
          <a:p>
            <a:pPr lvl="1"/>
            <a:r>
              <a:t>Competitive response</a:t>
            </a:r>
          </a:p>
        </p:txBody>
      </p:sp>
      <p:sp>
        <p:nvSpPr>
          <p:cNvPr id="197" name="Future validation needed…"/>
          <p:cNvSpPr txBox="1"/>
          <p:nvPr/>
        </p:nvSpPr>
        <p:spPr>
          <a:xfrm>
            <a:off x="11308984" y="4248504"/>
            <a:ext cx="8590647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6096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1" sz="4800">
                <a:solidFill>
                  <a:srgbClr val="000000"/>
                </a:solidFill>
              </a:defRPr>
            </a:pPr>
            <a:r>
              <a:t>Future validation needed</a:t>
            </a:r>
          </a:p>
          <a:p>
            <a:pPr lvl="1" marL="12192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000000"/>
                </a:solidFill>
              </a:defRPr>
            </a:pPr>
            <a:r>
              <a:t>Customer interviews</a:t>
            </a:r>
          </a:p>
          <a:p>
            <a:pPr lvl="1" marL="12192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000000"/>
                </a:solidFill>
              </a:defRPr>
            </a:pPr>
            <a:r>
              <a:t>Pilot deployments</a:t>
            </a:r>
          </a:p>
          <a:p>
            <a:pPr lvl="1" marL="12192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000000"/>
                </a:solidFill>
              </a:defRPr>
            </a:pPr>
            <a:r>
              <a:t>Product trials</a:t>
            </a:r>
          </a:p>
          <a:p>
            <a:pPr lvl="1" marL="12192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000000"/>
                </a:solidFill>
              </a:defRPr>
            </a:pPr>
            <a:r>
              <a:t>Commercial testing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750">
        <p:push dir="l"/>
      </p:transition>
    </mc:Choice>
    <mc:Fallback>
      <p:transition spd="fast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Repository &amp; Dashboard Handov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Repository &amp; Dashboard Handover</a:t>
            </a:r>
          </a:p>
        </p:txBody>
      </p:sp>
      <p:sp>
        <p:nvSpPr>
          <p:cNvPr id="200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1" name="Repository Includes…"/>
          <p:cNvSpPr txBox="1"/>
          <p:nvPr>
            <p:ph type="body" sz="half" idx="1"/>
          </p:nvPr>
        </p:nvSpPr>
        <p:spPr>
          <a:xfrm>
            <a:off x="1206499" y="4248504"/>
            <a:ext cx="8285996" cy="8256012"/>
          </a:xfrm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Repository Includes</a:t>
            </a:r>
          </a:p>
          <a:p>
            <a:pPr lvl="1"/>
            <a:r>
              <a:t>SQL warehouse</a:t>
            </a:r>
          </a:p>
          <a:p>
            <a:pPr lvl="1"/>
            <a:r>
              <a:t>Streamlit dashboard</a:t>
            </a:r>
          </a:p>
          <a:p>
            <a:pPr lvl="1"/>
            <a:r>
              <a:t>Market analyses</a:t>
            </a:r>
          </a:p>
          <a:p>
            <a:pPr lvl="1"/>
            <a:r>
              <a:t>Clustering notebook</a:t>
            </a:r>
          </a:p>
          <a:p>
            <a:pPr lvl="1"/>
            <a:r>
              <a:t>Documentation</a:t>
            </a:r>
          </a:p>
        </p:txBody>
      </p:sp>
      <p:sp>
        <p:nvSpPr>
          <p:cNvPr id="202" name="Dashboard Views…"/>
          <p:cNvSpPr txBox="1"/>
          <p:nvPr/>
        </p:nvSpPr>
        <p:spPr>
          <a:xfrm>
            <a:off x="10587251" y="4248504"/>
            <a:ext cx="8285995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6096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1" sz="4800">
                <a:solidFill>
                  <a:srgbClr val="000000"/>
                </a:solidFill>
              </a:defRPr>
            </a:pPr>
            <a:r>
              <a:t>Dashboard Views</a:t>
            </a:r>
          </a:p>
          <a:p>
            <a:pPr lvl="1" marL="12192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000000"/>
                </a:solidFill>
              </a:defRPr>
            </a:pPr>
            <a:r>
              <a:t>US Market Overview</a:t>
            </a:r>
          </a:p>
          <a:p>
            <a:pPr lvl="1" marL="12192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000000"/>
                </a:solidFill>
              </a:defRPr>
            </a:pPr>
            <a:r>
              <a:t>Fari</a:t>
            </a:r>
          </a:p>
          <a:p>
            <a:pPr lvl="1" marL="12192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000000"/>
                </a:solidFill>
              </a:defRPr>
            </a:pPr>
            <a:r>
              <a:t>Sentinel Prime AI</a:t>
            </a:r>
          </a:p>
          <a:p>
            <a:pPr lvl="1" marL="12192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000000"/>
                </a:solidFill>
              </a:defRPr>
            </a:pPr>
            <a:r>
              <a:t>Competitor Explorer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750">
        <p:push dir="l"/>
      </p:transition>
    </mc:Choice>
    <mc:Fallback>
      <p:transition spd="fast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Appendix A – Fari Sources &amp; Calculation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Appendix A – Fari Sources &amp; Calculations</a:t>
            </a:r>
          </a:p>
        </p:txBody>
      </p:sp>
      <p:sp>
        <p:nvSpPr>
          <p:cNvPr id="205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6" name="eldercare_market_analysis_v1.docx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eldercare_market_analysis_v1.docx</a:t>
            </a:r>
          </a:p>
        </p:txBody>
      </p:sp>
      <p:pic>
        <p:nvPicPr>
          <p:cNvPr id="207" name="Screenshot 2026-06-21 at 10.22.18 PM.png" descr="Screenshot 2026-06-21 at 10.22.18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92708" y="5884929"/>
            <a:ext cx="6866109" cy="4145930"/>
          </a:xfrm>
          <a:prstGeom prst="rect">
            <a:avLst/>
          </a:prstGeom>
          <a:ln w="12700">
            <a:miter lim="400000"/>
          </a:ln>
        </p:spPr>
      </p:pic>
      <p:pic>
        <p:nvPicPr>
          <p:cNvPr id="208" name="Screenshot 2026-06-21 at 10.22.33 PM.png" descr="Screenshot 2026-06-21 at 10.22.33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111972" y="5822061"/>
            <a:ext cx="8160056" cy="4396582"/>
          </a:xfrm>
          <a:prstGeom prst="rect">
            <a:avLst/>
          </a:prstGeom>
          <a:ln w="12700">
            <a:miter lim="400000"/>
          </a:ln>
        </p:spPr>
      </p:pic>
      <p:pic>
        <p:nvPicPr>
          <p:cNvPr id="209" name="Screenshot 2026-06-21 at 10.23.18 PM.png" descr="Screenshot 2026-06-21 at 10.23.18 P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88635" y="10310050"/>
            <a:ext cx="9055101" cy="2667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750">
        <p:push dir="l"/>
      </p:transition>
    </mc:Choice>
    <mc:Fallback>
      <p:transition spd="fast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Appendix B – Sentinel Sources &amp; Calculation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65188">
              <a:defRPr spc="-164" sz="8245"/>
            </a:lvl1pPr>
          </a:lstStyle>
          <a:p>
            <a:pPr/>
            <a:r>
              <a:t>Appendix B – Sentinel Sources &amp; Calculations</a:t>
            </a:r>
          </a:p>
        </p:txBody>
      </p:sp>
      <p:sp>
        <p:nvSpPr>
          <p:cNvPr id="212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3" name="security_market_analysis_v1.docx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security_market_analysis_v1.docx</a:t>
            </a:r>
          </a:p>
        </p:txBody>
      </p:sp>
      <p:pic>
        <p:nvPicPr>
          <p:cNvPr id="214" name="Screenshot 2026-06-22 at 1.04.37 AM.png" descr="Screenshot 2026-06-22 at 1.04.37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81466" y="5642365"/>
            <a:ext cx="10134601" cy="6464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5" name="Screenshot 2026-06-22 at 1.05.20 AM.png" descr="Screenshot 2026-06-22 at 1.05.20 A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826264" y="5625196"/>
            <a:ext cx="8851901" cy="3708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6" name="Screenshot 2026-06-22 at 1.05.53 AM.png" descr="Screenshot 2026-06-22 at 1.05.53 A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917483" y="9722162"/>
            <a:ext cx="10033001" cy="36703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750">
        <p:push dir="l"/>
      </p:transition>
    </mc:Choice>
    <mc:Fallback>
      <p:transition spd="fast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Appendix C – Senpai Cluster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Appendix C – Senpai Clustering</a:t>
            </a:r>
          </a:p>
        </p:txBody>
      </p:sp>
      <p:sp>
        <p:nvSpPr>
          <p:cNvPr id="219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0" name="segmentation_notebook_v1.ipynb…"/>
          <p:cNvSpPr txBox="1"/>
          <p:nvPr>
            <p:ph type="body" idx="1"/>
          </p:nvPr>
        </p:nvSpPr>
        <p:spPr>
          <a:xfrm>
            <a:off x="1206500" y="4248504"/>
            <a:ext cx="18388421" cy="9071047"/>
          </a:xfrm>
          <a:prstGeom prst="rect">
            <a:avLst/>
          </a:prstGeom>
        </p:spPr>
        <p:txBody>
          <a:bodyPr/>
          <a:lstStyle/>
          <a:p>
            <a:pPr/>
            <a:r>
              <a:t>segmentation_notebook_v1.ipynb</a:t>
            </a:r>
          </a:p>
          <a:p>
            <a:pPr/>
            <a:r>
              <a:t>senpai_buyer_framing_v1</a:t>
            </a:r>
          </a:p>
        </p:txBody>
      </p:sp>
      <p:pic>
        <p:nvPicPr>
          <p:cNvPr id="221" name="Screenshot 2026-06-22 at 2.11.34 AM.png" descr="Screenshot 2026-06-22 at 2.11.34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93138" y="6794854"/>
            <a:ext cx="8201671" cy="6216122"/>
          </a:xfrm>
          <a:prstGeom prst="rect">
            <a:avLst/>
          </a:prstGeom>
          <a:ln w="12700">
            <a:miter lim="400000"/>
          </a:ln>
        </p:spPr>
      </p:pic>
      <p:pic>
        <p:nvPicPr>
          <p:cNvPr id="222" name="Screenshot 2026-06-22 at 2.12.15 AM.png" descr="Screenshot 2026-06-22 at 2.12.15 A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4419917" y="3992918"/>
            <a:ext cx="5814773" cy="426115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3" name="Screenshot 2026-06-22 at 2.13.02 AM.png" descr="Screenshot 2026-06-22 at 2.13.02 A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4452834" y="8721723"/>
            <a:ext cx="5814773" cy="44326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750">
        <p:push dir="l"/>
      </p:transition>
    </mc:Choice>
    <mc:Fallback>
      <p:transition spd="fast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Appendix D – SQL Warehous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Appendix D – SQL Warehouse</a:t>
            </a:r>
          </a:p>
        </p:txBody>
      </p:sp>
      <p:sp>
        <p:nvSpPr>
          <p:cNvPr id="226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7" name="ingen_market_warehouse.sqlite…"/>
          <p:cNvSpPr txBox="1"/>
          <p:nvPr>
            <p:ph type="body" sz="quarter" idx="1"/>
          </p:nvPr>
        </p:nvSpPr>
        <p:spPr>
          <a:xfrm>
            <a:off x="1206500" y="4248504"/>
            <a:ext cx="14256544" cy="2607290"/>
          </a:xfrm>
          <a:prstGeom prst="rect">
            <a:avLst/>
          </a:prstGeom>
        </p:spPr>
        <p:txBody>
          <a:bodyPr/>
          <a:lstStyle/>
          <a:p>
            <a:pPr/>
            <a:r>
              <a:t>ingen_market_warehouse.sqlite</a:t>
            </a:r>
          </a:p>
          <a:p>
            <a:pPr/>
            <a:r>
              <a:t>warehouse_queries.sql</a:t>
            </a:r>
          </a:p>
        </p:txBody>
      </p:sp>
      <p:pic>
        <p:nvPicPr>
          <p:cNvPr id="228" name="Screenshot 2026-06-22 at 2.20.41 AM.png" descr="Screenshot 2026-06-22 at 2.20.41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833358" y="4602643"/>
            <a:ext cx="10827979" cy="651712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750">
        <p:push dir="l"/>
      </p:transition>
    </mc:Choice>
    <mc:Fallback>
      <p:transition spd="fast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hank you!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Thank you!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750">
        <p:push dir="l"/>
      </p:transition>
    </mc:Choice>
    <mc:Fallback>
      <p:transition spd="fast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5E5E5E"/>
      </a:dk1>
      <a:lt1>
        <a:srgbClr val="005E00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3_Dynamic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3_Dynamic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
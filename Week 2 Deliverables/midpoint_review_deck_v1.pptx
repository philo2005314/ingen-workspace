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View from inside a stone structure, looking out toward stairs and a clear, blue sky"/>
          <p:cNvSpPr/>
          <p:nvPr>
            <p:ph type="pic" idx="21"/>
          </p:nvPr>
        </p:nvSpPr>
        <p:spPr>
          <a:xfrm>
            <a:off x="0" y="-1270000"/>
            <a:ext cx="24384000" cy="16272934"/>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p:nvPr>
            <p:ph type="pic" idx="21"/>
          </p:nvPr>
        </p:nvSpPr>
        <p:spPr>
          <a:xfrm>
            <a:off x="9271000" y="1270000"/>
            <a:ext cx="16764000" cy="111760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Small section of a modern shell bridge in Qingdao, Shandong, China with a partly cloudy sky above"/>
          <p:cNvSpPr/>
          <p:nvPr>
            <p:ph type="pic" idx="22"/>
          </p:nvPr>
        </p:nvSpPr>
        <p:spPr>
          <a:xfrm>
            <a:off x="9271000" y="1263848"/>
            <a:ext cx="16773843"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Low angle exterior view of a modern building facade covered with aluminum discs under a clear, blue sky"/>
          <p:cNvSpPr/>
          <p:nvPr>
            <p:ph type="pic" sz="quarter" idx="21"/>
          </p:nvPr>
        </p:nvSpPr>
        <p:spPr>
          <a:xfrm>
            <a:off x="15417800" y="1270000"/>
            <a:ext cx="8144934" cy="5410200"/>
          </a:xfrm>
          <a:prstGeom prst="rect">
            <a:avLst/>
          </a:prstGeom>
        </p:spPr>
        <p:txBody>
          <a:bodyPr lIns="91439" tIns="45719" rIns="91439" bIns="45719">
            <a:noAutofit/>
          </a:bodyPr>
          <a:lstStyle/>
          <a:p>
            <a:pPr/>
          </a:p>
        </p:txBody>
      </p:sp>
      <p:sp>
        <p:nvSpPr>
          <p:cNvPr id="125" name="Low angle view of a modern, curved building under a cloudy sky"/>
          <p:cNvSpPr/>
          <p:nvPr>
            <p:ph type="pic" sz="quarter" idx="22"/>
          </p:nvPr>
        </p:nvSpPr>
        <p:spPr>
          <a:xfrm>
            <a:off x="15443200" y="7086600"/>
            <a:ext cx="8138580" cy="5422900"/>
          </a:xfrm>
          <a:prstGeom prst="rect">
            <a:avLst/>
          </a:prstGeom>
        </p:spPr>
        <p:txBody>
          <a:bodyPr lIns="91439" tIns="45719" rIns="91439" bIns="45719">
            <a:noAutofit/>
          </a:bodyPr>
          <a:lstStyle/>
          <a:p>
            <a:pPr/>
          </a:p>
        </p:txBody>
      </p:sp>
      <p:sp>
        <p:nvSpPr>
          <p:cNvPr id="126" name="View from inside a modern white building with glass panels, looking up to a bright, partly cloudy sky"/>
          <p:cNvSpPr/>
          <p:nvPr>
            <p:ph type="pic" idx="23"/>
          </p:nvPr>
        </p:nvSpPr>
        <p:spPr>
          <a:xfrm>
            <a:off x="-124635" y="1270000"/>
            <a:ext cx="16840169" cy="11243712"/>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34" name="Low angle view of the Azadi Tower in Tehran, Iran against a clear, bright sky"/>
          <p:cNvSpPr/>
          <p:nvPr>
            <p:ph type="pic" idx="21"/>
          </p:nvPr>
        </p:nvSpPr>
        <p:spPr>
          <a:xfrm>
            <a:off x="0" y="-1282700"/>
            <a:ext cx="24384000" cy="162814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Paulina 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Paulina S. </a:t>
            </a:r>
          </a:p>
        </p:txBody>
      </p:sp>
      <p:sp>
        <p:nvSpPr>
          <p:cNvPr id="152" name="InGen Dynamics…"/>
          <p:cNvSpPr txBox="1"/>
          <p:nvPr>
            <p:ph type="ctrTitle"/>
          </p:nvPr>
        </p:nvSpPr>
        <p:spPr>
          <a:prstGeom prst="rect">
            <a:avLst/>
          </a:prstGeom>
        </p:spPr>
        <p:txBody>
          <a:bodyPr/>
          <a:lstStyle/>
          <a:p>
            <a:pPr/>
            <a:r>
              <a:t>InGen Dynamics </a:t>
            </a:r>
          </a:p>
          <a:p>
            <a:pPr/>
            <a:r>
              <a:t>Midpoint Review </a:t>
            </a:r>
          </a:p>
        </p:txBody>
      </p:sp>
      <p:sp>
        <p:nvSpPr>
          <p:cNvPr id="153" name="Week 1 — Week 2"/>
          <p:cNvSpPr txBox="1"/>
          <p:nvPr>
            <p:ph type="subTitle" sz="quarter" idx="1"/>
          </p:nvPr>
        </p:nvSpPr>
        <p:spPr>
          <a:prstGeom prst="rect">
            <a:avLst/>
          </a:prstGeom>
        </p:spPr>
        <p:txBody>
          <a:bodyPr/>
          <a:lstStyle/>
          <a:p>
            <a:pPr/>
            <a:r>
              <a:t>Week 1 — Week 2</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Portfolio Landscape Findings"/>
          <p:cNvSpPr txBox="1"/>
          <p:nvPr>
            <p:ph type="title"/>
          </p:nvPr>
        </p:nvSpPr>
        <p:spPr>
          <a:prstGeom prst="rect">
            <a:avLst/>
          </a:prstGeom>
        </p:spPr>
        <p:txBody>
          <a:bodyPr/>
          <a:lstStyle/>
          <a:p>
            <a:pPr/>
            <a:r>
              <a:t>Portfolio Landscape Findings</a:t>
            </a:r>
          </a:p>
        </p:txBody>
      </p:sp>
      <p:sp>
        <p:nvSpPr>
          <p:cNvPr id="156" name="InGen Dynamics Portfolio Overvie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InGen Dynamics Portfolio Overview</a:t>
            </a:r>
          </a:p>
        </p:txBody>
      </p:sp>
      <p:sp>
        <p:nvSpPr>
          <p:cNvPr id="157" name="Fari: AI-powered eldercare companion robot designed to support clinical monitoring, emotional wellbeing, and resident safety in assisted living and care environments while ensuring privacy and dignity.…"/>
          <p:cNvSpPr txBox="1"/>
          <p:nvPr>
            <p:ph type="body" idx="1"/>
          </p:nvPr>
        </p:nvSpPr>
        <p:spPr>
          <a:prstGeom prst="rect">
            <a:avLst/>
          </a:prstGeom>
        </p:spPr>
        <p:txBody>
          <a:bodyPr/>
          <a:lstStyle/>
          <a:p>
            <a:pPr marL="451104" indent="-451104" defTabSz="1804370">
              <a:spcBef>
                <a:spcPts val="3300"/>
              </a:spcBef>
              <a:defRPr sz="3552"/>
            </a:pPr>
            <a:r>
              <a:rPr b="1"/>
              <a:t>Fari</a:t>
            </a:r>
            <a:r>
              <a:t>: AI-powered eldercare companion robot designed to support clinical monitoring, emotional wellbeing, and resident safety in assisted living and care environments while ensuring privacy and dignity. </a:t>
            </a:r>
          </a:p>
          <a:p>
            <a:pPr marL="451104" indent="-451104" defTabSz="1804370">
              <a:spcBef>
                <a:spcPts val="3300"/>
              </a:spcBef>
              <a:defRPr sz="3552"/>
            </a:pPr>
            <a:r>
              <a:rPr b="1"/>
              <a:t>Senpai</a:t>
            </a:r>
            <a:r>
              <a:t>: AI-powered educational companion robot that provides adaptive and personalized learning for children 3–18 across multiple settings.</a:t>
            </a:r>
          </a:p>
          <a:p>
            <a:pPr marL="451104" indent="-451104" defTabSz="1804370">
              <a:spcBef>
                <a:spcPts val="3300"/>
              </a:spcBef>
              <a:defRPr sz="3552"/>
            </a:pPr>
            <a:r>
              <a:rPr b="1"/>
              <a:t>Sentinel Prime AI</a:t>
            </a:r>
            <a:r>
              <a:t>: Physical security platform with a high range of detection features for real-time threat detection, surveillance, and operational intelligence while reducing false alarm rate.</a:t>
            </a:r>
          </a:p>
          <a:p>
            <a:pPr marL="451104" indent="-451104" defTabSz="1804370">
              <a:spcBef>
                <a:spcPts val="3300"/>
              </a:spcBef>
              <a:defRPr sz="3552"/>
            </a:pPr>
            <a:r>
              <a:rPr b="1"/>
              <a:t>Aido Rover</a:t>
            </a:r>
            <a:r>
              <a:t>: Autonomous outdoor robotics platform for inspection, security, monitoring, and infrastructure intelligence in environments where continuous human patrols are costly, hazardous, or impractical. </a:t>
            </a:r>
          </a:p>
          <a:p>
            <a:pPr marL="451104" indent="-451104" defTabSz="1804370">
              <a:spcBef>
                <a:spcPts val="3300"/>
              </a:spcBef>
              <a:defRPr sz="3552"/>
            </a:pPr>
            <a:r>
              <a:rPr b="1"/>
              <a:t>Aido Humanoid</a:t>
            </a:r>
            <a:r>
              <a:t>: Humanoid robotics platform designed to operate in human environments without requiring modifications to existing infrastructure. The system is being developed for healthcare, eldercare, manufacturing, and logistics applications, with safety, uncertainty management, and human collaboration embedded into its core design.</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Public Data Inventory"/>
          <p:cNvSpPr txBox="1"/>
          <p:nvPr>
            <p:ph type="title"/>
          </p:nvPr>
        </p:nvSpPr>
        <p:spPr>
          <a:prstGeom prst="rect">
            <a:avLst/>
          </a:prstGeom>
        </p:spPr>
        <p:txBody>
          <a:bodyPr/>
          <a:lstStyle/>
          <a:p>
            <a:pPr/>
            <a:r>
              <a:t>Public Data Inventory</a:t>
            </a:r>
          </a:p>
        </p:txBody>
      </p:sp>
      <p:sp>
        <p:nvSpPr>
          <p:cNvPr id="160" name="Market Sizing Basi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Market Sizing Basis </a:t>
            </a:r>
          </a:p>
        </p:txBody>
      </p:sp>
      <p:sp>
        <p:nvSpPr>
          <p:cNvPr id="161" name="Data Sources Collected…"/>
          <p:cNvSpPr txBox="1"/>
          <p:nvPr>
            <p:ph type="body" sz="half" idx="1"/>
          </p:nvPr>
        </p:nvSpPr>
        <p:spPr>
          <a:xfrm>
            <a:off x="1206500" y="4248504"/>
            <a:ext cx="9299087" cy="8256012"/>
          </a:xfrm>
          <a:prstGeom prst="rect">
            <a:avLst/>
          </a:prstGeom>
        </p:spPr>
        <p:txBody>
          <a:bodyPr/>
          <a:lstStyle/>
          <a:p>
            <a:pPr marL="530352" indent="-530352" defTabSz="2121354">
              <a:spcBef>
                <a:spcPts val="3900"/>
              </a:spcBef>
              <a:defRPr b="1" sz="4176"/>
            </a:pPr>
            <a:r>
              <a:t>Data Sources Collected</a:t>
            </a:r>
          </a:p>
          <a:p>
            <a:pPr lvl="1" marL="1060704" indent="-530352" defTabSz="2121354">
              <a:spcBef>
                <a:spcPts val="3900"/>
              </a:spcBef>
              <a:defRPr sz="4176"/>
            </a:pPr>
            <a:r>
              <a:t>US Census</a:t>
            </a:r>
          </a:p>
          <a:p>
            <a:pPr lvl="1" marL="1060704" indent="-530352" defTabSz="2121354">
              <a:spcBef>
                <a:spcPts val="3900"/>
              </a:spcBef>
              <a:defRPr sz="4176"/>
            </a:pPr>
            <a:r>
              <a:t>OECD</a:t>
            </a:r>
          </a:p>
          <a:p>
            <a:pPr lvl="1" marL="1060704" indent="-530352" defTabSz="2121354">
              <a:spcBef>
                <a:spcPts val="3900"/>
              </a:spcBef>
              <a:defRPr sz="4176"/>
            </a:pPr>
            <a:r>
              <a:t>Bureau of Labor Statistics</a:t>
            </a:r>
          </a:p>
          <a:p>
            <a:pPr lvl="1" marL="1060704" indent="-530352" defTabSz="2121354">
              <a:spcBef>
                <a:spcPts val="3900"/>
              </a:spcBef>
              <a:defRPr sz="4176"/>
            </a:pPr>
            <a:r>
              <a:t>SEC EDGAR</a:t>
            </a:r>
          </a:p>
          <a:p>
            <a:pPr lvl="1" marL="1060704" indent="-530352" defTabSz="2121354">
              <a:spcBef>
                <a:spcPts val="3900"/>
              </a:spcBef>
              <a:defRPr sz="4176"/>
            </a:pPr>
            <a:r>
              <a:t>Security Industry Association</a:t>
            </a:r>
          </a:p>
          <a:p>
            <a:pPr lvl="1" marL="1060704" indent="-530352" defTabSz="2121354">
              <a:spcBef>
                <a:spcPts val="3900"/>
              </a:spcBef>
              <a:defRPr sz="4176"/>
            </a:pPr>
            <a:r>
              <a:t>Pew Research</a:t>
            </a:r>
          </a:p>
          <a:p>
            <a:pPr lvl="1" marL="1060704" indent="-530352" defTabSz="2121354">
              <a:spcBef>
                <a:spcPts val="3900"/>
              </a:spcBef>
              <a:defRPr sz="4176"/>
            </a:pPr>
            <a:r>
              <a:t>Competitor websites</a:t>
            </a:r>
          </a:p>
        </p:txBody>
      </p:sp>
      <p:sp>
        <p:nvSpPr>
          <p:cNvPr id="162" name="Outputs…"/>
          <p:cNvSpPr txBox="1"/>
          <p:nvPr/>
        </p:nvSpPr>
        <p:spPr>
          <a:xfrm>
            <a:off x="12925278" y="4248504"/>
            <a:ext cx="9299088"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24255" indent="-524255" algn="l" defTabSz="2096971">
              <a:lnSpc>
                <a:spcPct val="90000"/>
              </a:lnSpc>
              <a:spcBef>
                <a:spcPts val="3800"/>
              </a:spcBef>
              <a:buSzPct val="123000"/>
              <a:buChar char="•"/>
              <a:defRPr b="1" sz="4128">
                <a:solidFill>
                  <a:srgbClr val="000000"/>
                </a:solidFill>
              </a:defRPr>
            </a:pPr>
            <a:r>
              <a:t>Outputs</a:t>
            </a:r>
          </a:p>
          <a:p>
            <a:pPr lvl="1" marL="1048511" indent="-524255" algn="l" defTabSz="2096971">
              <a:lnSpc>
                <a:spcPct val="90000"/>
              </a:lnSpc>
              <a:spcBef>
                <a:spcPts val="3800"/>
              </a:spcBef>
              <a:buSzPct val="123000"/>
              <a:buChar char="•"/>
              <a:defRPr sz="4128">
                <a:solidFill>
                  <a:srgbClr val="000000"/>
                </a:solidFill>
              </a:defRPr>
            </a:pPr>
            <a:r>
              <a:t>Market sizing references</a:t>
            </a:r>
          </a:p>
          <a:p>
            <a:pPr lvl="1" marL="1048511" indent="-524255" algn="l" defTabSz="2096971">
              <a:lnSpc>
                <a:spcPct val="90000"/>
              </a:lnSpc>
              <a:spcBef>
                <a:spcPts val="3800"/>
              </a:spcBef>
              <a:buSzPct val="123000"/>
              <a:buChar char="•"/>
              <a:defRPr sz="4128">
                <a:solidFill>
                  <a:srgbClr val="000000"/>
                </a:solidFill>
              </a:defRPr>
            </a:pPr>
            <a:r>
              <a:t>Competitor revenue and business information</a:t>
            </a:r>
          </a:p>
          <a:p>
            <a:pPr lvl="1" marL="1048511" indent="-524255" algn="l" defTabSz="2096971">
              <a:lnSpc>
                <a:spcPct val="90000"/>
              </a:lnSpc>
              <a:spcBef>
                <a:spcPts val="3800"/>
              </a:spcBef>
              <a:buSzPct val="123000"/>
              <a:buChar char="•"/>
              <a:defRPr sz="4128">
                <a:solidFill>
                  <a:srgbClr val="000000"/>
                </a:solidFill>
              </a:defRPr>
            </a:pPr>
            <a:r>
              <a:t>Public data inventory</a:t>
            </a:r>
          </a:p>
          <a:p>
            <a:pPr algn="l" defTabSz="2096971">
              <a:lnSpc>
                <a:spcPct val="90000"/>
              </a:lnSpc>
              <a:spcBef>
                <a:spcPts val="3800"/>
              </a:spcBef>
              <a:defRPr sz="4128">
                <a:solidFill>
                  <a:srgbClr val="000000"/>
                </a:solidFill>
              </a:defRPr>
            </a:pPr>
          </a:p>
          <a:p>
            <a:pPr marL="524255" indent="-524255" algn="l" defTabSz="2096971">
              <a:lnSpc>
                <a:spcPct val="90000"/>
              </a:lnSpc>
              <a:spcBef>
                <a:spcPts val="3800"/>
              </a:spcBef>
              <a:buSzPct val="123000"/>
              <a:buChar char="•"/>
              <a:defRPr b="1" sz="4128">
                <a:solidFill>
                  <a:srgbClr val="000000"/>
                </a:solidFill>
              </a:defRPr>
            </a:pPr>
            <a:r>
              <a:t>Value</a:t>
            </a:r>
          </a:p>
          <a:p>
            <a:pPr lvl="1" marL="1048511" indent="-524255" algn="l" defTabSz="2096971">
              <a:lnSpc>
                <a:spcPct val="90000"/>
              </a:lnSpc>
              <a:spcBef>
                <a:spcPts val="3800"/>
              </a:spcBef>
              <a:buSzPct val="123000"/>
              <a:buChar char="•"/>
              <a:defRPr sz="4128">
                <a:solidFill>
                  <a:srgbClr val="000000"/>
                </a:solidFill>
              </a:defRPr>
            </a:pPr>
            <a:r>
              <a:t>Provides reusable framework for future market analyses.</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Fari Findings"/>
          <p:cNvSpPr txBox="1"/>
          <p:nvPr>
            <p:ph type="title"/>
          </p:nvPr>
        </p:nvSpPr>
        <p:spPr>
          <a:prstGeom prst="rect">
            <a:avLst/>
          </a:prstGeom>
        </p:spPr>
        <p:txBody>
          <a:bodyPr/>
          <a:lstStyle/>
          <a:p>
            <a:pPr/>
            <a:r>
              <a:t>Fari Findings</a:t>
            </a:r>
          </a:p>
        </p:txBody>
      </p:sp>
      <p:sp>
        <p:nvSpPr>
          <p:cNvPr id="165" name="Eldercare Market Analysi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Eldercare Market Analysis </a:t>
            </a:r>
          </a:p>
        </p:txBody>
      </p:sp>
      <p:sp>
        <p:nvSpPr>
          <p:cNvPr id="166" name="Reconciled TAM (Total Addressable Market): 12.3M seniors…"/>
          <p:cNvSpPr txBox="1"/>
          <p:nvPr>
            <p:ph type="body" idx="1"/>
          </p:nvPr>
        </p:nvSpPr>
        <p:spPr>
          <a:prstGeom prst="rect">
            <a:avLst/>
          </a:prstGeom>
        </p:spPr>
        <p:txBody>
          <a:bodyPr/>
          <a:lstStyle/>
          <a:p>
            <a:pPr marL="390143" indent="-390143" defTabSz="1560536">
              <a:spcBef>
                <a:spcPts val="2800"/>
              </a:spcBef>
              <a:defRPr sz="3072"/>
            </a:pPr>
            <a:r>
              <a:rPr b="1"/>
              <a:t>Reconciled TAM</a:t>
            </a:r>
            <a:r>
              <a:t> (Total Addressable Market): 12.3M seniors</a:t>
            </a:r>
          </a:p>
          <a:p>
            <a:pPr marL="390143" indent="-390143" defTabSz="1560536">
              <a:spcBef>
                <a:spcPts val="2800"/>
              </a:spcBef>
              <a:defRPr sz="3072"/>
            </a:pPr>
            <a:r>
              <a:rPr b="1"/>
              <a:t>SAM</a:t>
            </a:r>
            <a:r>
              <a:t> (Serviceable Addressable Market): 5.2M seniors</a:t>
            </a:r>
          </a:p>
          <a:p>
            <a:pPr marL="390143" indent="-390143" defTabSz="1560536">
              <a:spcBef>
                <a:spcPts val="2800"/>
              </a:spcBef>
              <a:defRPr b="1" sz="3072"/>
            </a:pPr>
            <a:r>
              <a:t>Key Drivers</a:t>
            </a:r>
          </a:p>
          <a:p>
            <a:pPr lvl="1" marL="780287" indent="-390143" defTabSz="1560536">
              <a:spcBef>
                <a:spcPts val="2800"/>
              </a:spcBef>
              <a:defRPr sz="3072"/>
            </a:pPr>
            <a:r>
              <a:t>61.2M Americans age 65+ in 2024</a:t>
            </a:r>
          </a:p>
          <a:p>
            <a:pPr lvl="1" marL="780287" indent="-390143" defTabSz="1560536">
              <a:spcBef>
                <a:spcPts val="2800"/>
              </a:spcBef>
              <a:defRPr sz="3072"/>
            </a:pPr>
            <a:r>
              <a:t>Caregiver shortages</a:t>
            </a:r>
          </a:p>
          <a:p>
            <a:pPr lvl="1" marL="780287" indent="-390143" defTabSz="1560536">
              <a:spcBef>
                <a:spcPts val="2800"/>
              </a:spcBef>
              <a:defRPr sz="3072"/>
            </a:pPr>
            <a:r>
              <a:t>Rising care costs</a:t>
            </a:r>
          </a:p>
          <a:p>
            <a:pPr lvl="1" marL="780287" indent="-390143" defTabSz="1560536">
              <a:spcBef>
                <a:spcPts val="2800"/>
              </a:spcBef>
              <a:defRPr sz="3072"/>
            </a:pPr>
            <a:r>
              <a:t>Increasing technology adoption among seniors</a:t>
            </a:r>
          </a:p>
          <a:p>
            <a:pPr marL="390143" indent="-390143" defTabSz="1560536">
              <a:spcBef>
                <a:spcPts val="2800"/>
              </a:spcBef>
              <a:defRPr b="1" sz="3072"/>
            </a:pPr>
            <a:r>
              <a:t>Key Insight</a:t>
            </a:r>
          </a:p>
          <a:p>
            <a:pPr marL="390143" indent="-390143" defTabSz="1560536">
              <a:spcBef>
                <a:spcPts val="2800"/>
              </a:spcBef>
              <a:defRPr sz="3072"/>
            </a:pPr>
            <a:r>
              <a:t>Most competitors focus on a single capability, while Fari combines companionship, monitoring, safety, and health support.</a:t>
            </a:r>
          </a:p>
          <a:p>
            <a:pPr marL="390143" indent="-390143" defTabSz="1560536">
              <a:spcBef>
                <a:spcPts val="2800"/>
              </a:spcBef>
              <a:defRPr sz="3072"/>
            </a:pPr>
            <a:r>
              <a:t>It is important to not only take into account functionality but also affordability, as well as the aspect of enhancing eldercare but not replacing human care completely.</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entinel Prime AI Findings"/>
          <p:cNvSpPr txBox="1"/>
          <p:nvPr>
            <p:ph type="title"/>
          </p:nvPr>
        </p:nvSpPr>
        <p:spPr>
          <a:prstGeom prst="rect">
            <a:avLst/>
          </a:prstGeom>
        </p:spPr>
        <p:txBody>
          <a:bodyPr/>
          <a:lstStyle/>
          <a:p>
            <a:pPr/>
            <a:r>
              <a:t>Sentinel Prime AI Findings</a:t>
            </a:r>
          </a:p>
        </p:txBody>
      </p:sp>
      <p:sp>
        <p:nvSpPr>
          <p:cNvPr id="169" name="Security Market Analysi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Security Market Analysis </a:t>
            </a:r>
          </a:p>
        </p:txBody>
      </p:sp>
      <p:sp>
        <p:nvSpPr>
          <p:cNvPr id="170" name="Reconciled TAM (Total Addressable Market): $43.4B…"/>
          <p:cNvSpPr txBox="1"/>
          <p:nvPr>
            <p:ph type="body" idx="1"/>
          </p:nvPr>
        </p:nvSpPr>
        <p:spPr>
          <a:prstGeom prst="rect">
            <a:avLst/>
          </a:prstGeom>
        </p:spPr>
        <p:txBody>
          <a:bodyPr/>
          <a:lstStyle/>
          <a:p>
            <a:pPr marL="390143" indent="-390143" defTabSz="1560536">
              <a:spcBef>
                <a:spcPts val="2800"/>
              </a:spcBef>
              <a:defRPr sz="3072"/>
            </a:pPr>
            <a:r>
              <a:rPr b="1"/>
              <a:t>Reconciled TAM</a:t>
            </a:r>
            <a:r>
              <a:t> (Total Addressable Market): $43.4B</a:t>
            </a:r>
          </a:p>
          <a:p>
            <a:pPr marL="390143" indent="-390143" defTabSz="1560536">
              <a:spcBef>
                <a:spcPts val="2800"/>
              </a:spcBef>
              <a:defRPr sz="3072"/>
            </a:pPr>
            <a:r>
              <a:rPr b="1"/>
              <a:t>SAM</a:t>
            </a:r>
            <a:r>
              <a:t> (Serviceable Addressable Market): $34.0B</a:t>
            </a:r>
          </a:p>
          <a:p>
            <a:pPr marL="390143" indent="-390143" defTabSz="1560536">
              <a:spcBef>
                <a:spcPts val="2800"/>
              </a:spcBef>
              <a:defRPr b="1" sz="3072"/>
            </a:pPr>
            <a:r>
              <a:t>Key Drivers</a:t>
            </a:r>
          </a:p>
          <a:p>
            <a:pPr lvl="1" marL="780287" indent="-390143" defTabSz="1560536">
              <a:spcBef>
                <a:spcPts val="2800"/>
              </a:spcBef>
              <a:defRPr sz="3072"/>
            </a:pPr>
            <a:r>
              <a:t>Security workforce shortages</a:t>
            </a:r>
          </a:p>
          <a:p>
            <a:pPr lvl="1" marL="780287" indent="-390143" defTabSz="1560536">
              <a:spcBef>
                <a:spcPts val="2800"/>
              </a:spcBef>
              <a:defRPr sz="3072"/>
            </a:pPr>
            <a:r>
              <a:t>Rising labor costs</a:t>
            </a:r>
          </a:p>
          <a:p>
            <a:pPr lvl="1" marL="780287" indent="-390143" defTabSz="1560536">
              <a:spcBef>
                <a:spcPts val="2800"/>
              </a:spcBef>
              <a:defRPr sz="3072"/>
            </a:pPr>
            <a:r>
              <a:t>Security data overload</a:t>
            </a:r>
          </a:p>
          <a:p>
            <a:pPr lvl="1" marL="780287" indent="-390143" defTabSz="1560536">
              <a:spcBef>
                <a:spcPts val="2800"/>
              </a:spcBef>
              <a:defRPr sz="3072"/>
            </a:pPr>
            <a:r>
              <a:t>Growing AI adoption and advancement </a:t>
            </a:r>
          </a:p>
          <a:p>
            <a:pPr marL="390143" indent="-390143" defTabSz="1560536">
              <a:spcBef>
                <a:spcPts val="2800"/>
              </a:spcBef>
              <a:defRPr b="1" sz="3072"/>
            </a:pPr>
            <a:r>
              <a:t>Key Insight</a:t>
            </a:r>
          </a:p>
          <a:p>
            <a:pPr marL="390143" indent="-390143" defTabSz="1560536">
              <a:spcBef>
                <a:spcPts val="2800"/>
              </a:spcBef>
              <a:defRPr sz="3072"/>
            </a:pPr>
            <a:r>
              <a:t>Organizations increasingly seek AI-powered monitoring systems to improve detection and reduce alert fatigue. </a:t>
            </a:r>
          </a:p>
          <a:p>
            <a:pPr marL="390143" indent="-390143" defTabSz="1560536">
              <a:spcBef>
                <a:spcPts val="2800"/>
              </a:spcBef>
              <a:defRPr sz="3072"/>
            </a:pPr>
            <a:r>
              <a:t>While maintaining potential detection accuracy, data privacy and discrimination issues need to be evaluated to ensure public acceptance.  </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Competitor Profiles"/>
          <p:cNvSpPr txBox="1"/>
          <p:nvPr>
            <p:ph type="title"/>
          </p:nvPr>
        </p:nvSpPr>
        <p:spPr>
          <a:prstGeom prst="rect">
            <a:avLst/>
          </a:prstGeom>
        </p:spPr>
        <p:txBody>
          <a:bodyPr/>
          <a:lstStyle/>
          <a:p>
            <a:pPr/>
            <a:r>
              <a:t>Competitor Profiles</a:t>
            </a:r>
          </a:p>
        </p:txBody>
      </p:sp>
      <p:sp>
        <p:nvSpPr>
          <p:cNvPr id="173" name="Eldercare &amp; Physical Securit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Eldercare &amp; Physical Security </a:t>
            </a:r>
          </a:p>
        </p:txBody>
      </p:sp>
      <p:sp>
        <p:nvSpPr>
          <p:cNvPr id="174" name="Eldercare…"/>
          <p:cNvSpPr txBox="1"/>
          <p:nvPr>
            <p:ph type="body" sz="quarter" idx="1"/>
          </p:nvPr>
        </p:nvSpPr>
        <p:spPr>
          <a:xfrm>
            <a:off x="1206499" y="4248504"/>
            <a:ext cx="3415056" cy="8256012"/>
          </a:xfrm>
          <a:prstGeom prst="rect">
            <a:avLst/>
          </a:prstGeom>
        </p:spPr>
        <p:txBody>
          <a:bodyPr/>
          <a:lstStyle/>
          <a:p>
            <a:pPr marL="530352" indent="-530352" defTabSz="2121354">
              <a:spcBef>
                <a:spcPts val="3900"/>
              </a:spcBef>
              <a:defRPr b="1" sz="4176"/>
            </a:pPr>
            <a:r>
              <a:t>Eldercare</a:t>
            </a:r>
          </a:p>
          <a:p>
            <a:pPr lvl="1" marL="1060704" indent="-530352" defTabSz="2121354">
              <a:spcBef>
                <a:spcPts val="3900"/>
              </a:spcBef>
              <a:defRPr sz="4176"/>
            </a:pPr>
            <a:r>
              <a:t>ElliQ</a:t>
            </a:r>
          </a:p>
          <a:p>
            <a:pPr lvl="1" marL="1060704" indent="-530352" defTabSz="2121354">
              <a:spcBef>
                <a:spcPts val="3900"/>
              </a:spcBef>
              <a:defRPr sz="4176"/>
            </a:pPr>
            <a:r>
              <a:t>Mabu</a:t>
            </a:r>
          </a:p>
          <a:p>
            <a:pPr lvl="1" marL="1060704" indent="-530352" defTabSz="2121354">
              <a:spcBef>
                <a:spcPts val="3900"/>
              </a:spcBef>
              <a:defRPr sz="4176"/>
            </a:pPr>
            <a:r>
              <a:t>Joy for All</a:t>
            </a:r>
          </a:p>
          <a:p>
            <a:pPr lvl="1" marL="1060704" indent="-530352" defTabSz="2121354">
              <a:spcBef>
                <a:spcPts val="3900"/>
              </a:spcBef>
              <a:defRPr sz="4176"/>
            </a:pPr>
            <a:r>
              <a:t>Labrador</a:t>
            </a:r>
          </a:p>
          <a:p>
            <a:pPr lvl="1" marL="1060704" indent="-530352" defTabSz="2121354">
              <a:spcBef>
                <a:spcPts val="3900"/>
              </a:spcBef>
              <a:defRPr sz="4176"/>
            </a:pPr>
            <a:r>
              <a:t>LOVOT</a:t>
            </a:r>
          </a:p>
          <a:p>
            <a:pPr lvl="1" marL="1060704" indent="-530352" defTabSz="2121354">
              <a:spcBef>
                <a:spcPts val="3900"/>
              </a:spcBef>
              <a:defRPr sz="4176"/>
            </a:pPr>
            <a:r>
              <a:t>PARO</a:t>
            </a:r>
          </a:p>
        </p:txBody>
      </p:sp>
      <p:sp>
        <p:nvSpPr>
          <p:cNvPr id="175" name="Physical Security…"/>
          <p:cNvSpPr txBox="1"/>
          <p:nvPr/>
        </p:nvSpPr>
        <p:spPr>
          <a:xfrm>
            <a:off x="5873066" y="4248504"/>
            <a:ext cx="4820506"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12063" indent="-512063" algn="l" defTabSz="2048204">
              <a:lnSpc>
                <a:spcPct val="90000"/>
              </a:lnSpc>
              <a:spcBef>
                <a:spcPts val="3700"/>
              </a:spcBef>
              <a:buSzPct val="123000"/>
              <a:buChar char="•"/>
              <a:defRPr b="1" sz="4032">
                <a:solidFill>
                  <a:srgbClr val="000000"/>
                </a:solidFill>
              </a:defRPr>
            </a:pPr>
            <a:r>
              <a:t>Physical Security</a:t>
            </a:r>
          </a:p>
          <a:p>
            <a:pPr lvl="1" marL="1024127" indent="-512063" algn="l" defTabSz="2048204">
              <a:lnSpc>
                <a:spcPct val="90000"/>
              </a:lnSpc>
              <a:spcBef>
                <a:spcPts val="3700"/>
              </a:spcBef>
              <a:buSzPct val="123000"/>
              <a:buChar char="•"/>
              <a:defRPr sz="4032">
                <a:solidFill>
                  <a:srgbClr val="000000"/>
                </a:solidFill>
              </a:defRPr>
            </a:pPr>
            <a:r>
              <a:t>Knightscope</a:t>
            </a:r>
          </a:p>
          <a:p>
            <a:pPr lvl="1" marL="1024127" indent="-512063" algn="l" defTabSz="2048204">
              <a:lnSpc>
                <a:spcPct val="90000"/>
              </a:lnSpc>
              <a:spcBef>
                <a:spcPts val="3700"/>
              </a:spcBef>
              <a:buSzPct val="123000"/>
              <a:buChar char="•"/>
              <a:defRPr sz="4032">
                <a:solidFill>
                  <a:srgbClr val="000000"/>
                </a:solidFill>
              </a:defRPr>
            </a:pPr>
            <a:r>
              <a:t>Cobalt Robotics</a:t>
            </a:r>
          </a:p>
          <a:p>
            <a:pPr lvl="1" marL="1024127" indent="-512063" algn="l" defTabSz="2048204">
              <a:lnSpc>
                <a:spcPct val="90000"/>
              </a:lnSpc>
              <a:spcBef>
                <a:spcPts val="3700"/>
              </a:spcBef>
              <a:buSzPct val="123000"/>
              <a:buChar char="•"/>
              <a:defRPr sz="4032">
                <a:solidFill>
                  <a:srgbClr val="000000"/>
                </a:solidFill>
              </a:defRPr>
            </a:pPr>
            <a:r>
              <a:t>Verkada</a:t>
            </a:r>
          </a:p>
          <a:p>
            <a:pPr lvl="1" marL="1024127" indent="-512063" algn="l" defTabSz="2048204">
              <a:lnSpc>
                <a:spcPct val="90000"/>
              </a:lnSpc>
              <a:spcBef>
                <a:spcPts val="3700"/>
              </a:spcBef>
              <a:buSzPct val="123000"/>
              <a:buChar char="•"/>
              <a:defRPr sz="4032">
                <a:solidFill>
                  <a:srgbClr val="000000"/>
                </a:solidFill>
              </a:defRPr>
            </a:pPr>
            <a:r>
              <a:t>Avigilon</a:t>
            </a:r>
          </a:p>
          <a:p>
            <a:pPr lvl="1" marL="1024127" indent="-512063" algn="l" defTabSz="2048204">
              <a:lnSpc>
                <a:spcPct val="90000"/>
              </a:lnSpc>
              <a:spcBef>
                <a:spcPts val="3700"/>
              </a:spcBef>
              <a:buSzPct val="123000"/>
              <a:buChar char="•"/>
              <a:defRPr sz="4032">
                <a:solidFill>
                  <a:srgbClr val="000000"/>
                </a:solidFill>
              </a:defRPr>
            </a:pPr>
            <a:r>
              <a:t>Genetec</a:t>
            </a:r>
          </a:p>
          <a:p>
            <a:pPr lvl="1" marL="1024127" indent="-512063" algn="l" defTabSz="2048204">
              <a:lnSpc>
                <a:spcPct val="90000"/>
              </a:lnSpc>
              <a:spcBef>
                <a:spcPts val="3700"/>
              </a:spcBef>
              <a:buSzPct val="123000"/>
              <a:buChar char="•"/>
              <a:defRPr sz="4032">
                <a:solidFill>
                  <a:srgbClr val="000000"/>
                </a:solidFill>
              </a:defRPr>
            </a:pPr>
            <a:r>
              <a:t>Eagle Eye Networks</a:t>
            </a:r>
          </a:p>
        </p:txBody>
      </p:sp>
      <p:sp>
        <p:nvSpPr>
          <p:cNvPr id="176" name="Observation…"/>
          <p:cNvSpPr txBox="1"/>
          <p:nvPr/>
        </p:nvSpPr>
        <p:spPr>
          <a:xfrm>
            <a:off x="12250420" y="4248504"/>
            <a:ext cx="6515516"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609600" indent="-609600" algn="l">
              <a:lnSpc>
                <a:spcPct val="90000"/>
              </a:lnSpc>
              <a:spcBef>
                <a:spcPts val="4500"/>
              </a:spcBef>
              <a:buSzPct val="123000"/>
              <a:buChar char="•"/>
              <a:defRPr b="1" sz="4800">
                <a:solidFill>
                  <a:srgbClr val="000000"/>
                </a:solidFill>
              </a:defRPr>
            </a:pPr>
            <a:r>
              <a:t>Observation</a:t>
            </a:r>
          </a:p>
          <a:p>
            <a:pPr marL="609600" indent="-609600" algn="l">
              <a:lnSpc>
                <a:spcPct val="90000"/>
              </a:lnSpc>
              <a:spcBef>
                <a:spcPts val="4500"/>
              </a:spcBef>
              <a:buSzPct val="123000"/>
              <a:buChar char="•"/>
              <a:defRPr sz="4800">
                <a:solidFill>
                  <a:srgbClr val="000000"/>
                </a:solidFill>
              </a:defRPr>
            </a:pPr>
            <a:r>
              <a:t>Most competitors specialize in a single function, creating opportunities for integrated AI platforms. </a:t>
            </a:r>
          </a:p>
          <a:p>
            <a:pPr marL="609600" indent="-609600" algn="l">
              <a:lnSpc>
                <a:spcPct val="90000"/>
              </a:lnSpc>
              <a:spcBef>
                <a:spcPts val="4500"/>
              </a:spcBef>
              <a:buSzPct val="123000"/>
              <a:buChar char="•"/>
              <a:defRPr sz="4800">
                <a:solidFill>
                  <a:srgbClr val="000000"/>
                </a:solidFill>
              </a:defRPr>
            </a:pPr>
            <a:r>
              <a:t>There is a lack of price transparency in some products. </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ummary of Findings and Implications"/>
          <p:cNvSpPr txBox="1"/>
          <p:nvPr>
            <p:ph type="title"/>
          </p:nvPr>
        </p:nvSpPr>
        <p:spPr>
          <a:prstGeom prst="rect">
            <a:avLst/>
          </a:prstGeom>
        </p:spPr>
        <p:txBody>
          <a:bodyPr/>
          <a:lstStyle/>
          <a:p>
            <a:pPr/>
            <a:r>
              <a:t>Summary of Findings and Implications</a:t>
            </a:r>
          </a:p>
        </p:txBody>
      </p:sp>
      <p:sp>
        <p:nvSpPr>
          <p:cNvPr id="179" name="AI-Powered Eldercare and Security Platform"/>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AI-Powered Eldercare and Security Platform</a:t>
            </a:r>
          </a:p>
        </p:txBody>
      </p:sp>
      <p:sp>
        <p:nvSpPr>
          <p:cNvPr id="180" name="Fari…"/>
          <p:cNvSpPr txBox="1"/>
          <p:nvPr>
            <p:ph type="body" idx="1"/>
          </p:nvPr>
        </p:nvSpPr>
        <p:spPr>
          <a:prstGeom prst="rect">
            <a:avLst/>
          </a:prstGeom>
        </p:spPr>
        <p:txBody>
          <a:bodyPr/>
          <a:lstStyle/>
          <a:p>
            <a:pPr marL="359663" indent="-359663" defTabSz="1438619">
              <a:spcBef>
                <a:spcPts val="2600"/>
              </a:spcBef>
              <a:defRPr b="1" sz="2832"/>
            </a:pPr>
            <a:r>
              <a:t>Fari</a:t>
            </a:r>
          </a:p>
          <a:p>
            <a:pPr lvl="1" marL="719327" indent="-359663" defTabSz="1438619">
              <a:spcBef>
                <a:spcPts val="2600"/>
              </a:spcBef>
              <a:defRPr sz="2832"/>
            </a:pPr>
            <a:r>
              <a:t>Large aging population</a:t>
            </a:r>
          </a:p>
          <a:p>
            <a:pPr lvl="1" marL="719327" indent="-359663" defTabSz="1438619">
              <a:spcBef>
                <a:spcPts val="2600"/>
              </a:spcBef>
              <a:defRPr sz="2832"/>
            </a:pPr>
            <a:r>
              <a:t>Growing caregiver shortages</a:t>
            </a:r>
          </a:p>
          <a:p>
            <a:pPr lvl="1" marL="719327" indent="-359663" defTabSz="1438619">
              <a:spcBef>
                <a:spcPts val="2600"/>
              </a:spcBef>
              <a:defRPr sz="2832"/>
            </a:pPr>
            <a:r>
              <a:t>Opportunity for integrated eldercare support</a:t>
            </a:r>
          </a:p>
          <a:p>
            <a:pPr marL="359663" indent="-359663" defTabSz="1438619">
              <a:spcBef>
                <a:spcPts val="2600"/>
              </a:spcBef>
              <a:defRPr b="1" sz="2832"/>
            </a:pPr>
            <a:r>
              <a:t>Sentinel</a:t>
            </a:r>
          </a:p>
          <a:p>
            <a:pPr lvl="1" marL="719327" indent="-359663" defTabSz="1438619">
              <a:spcBef>
                <a:spcPts val="2600"/>
              </a:spcBef>
              <a:defRPr sz="2832"/>
            </a:pPr>
            <a:r>
              <a:t>Large commercial security market</a:t>
            </a:r>
          </a:p>
          <a:p>
            <a:pPr lvl="1" marL="719327" indent="-359663" defTabSz="1438619">
              <a:spcBef>
                <a:spcPts val="2600"/>
              </a:spcBef>
              <a:defRPr sz="2832"/>
            </a:pPr>
            <a:r>
              <a:t>Increasing AI adoption</a:t>
            </a:r>
          </a:p>
          <a:p>
            <a:pPr lvl="1" marL="719327" indent="-359663" defTabSz="1438619">
              <a:spcBef>
                <a:spcPts val="2600"/>
              </a:spcBef>
              <a:defRPr sz="2832"/>
            </a:pPr>
            <a:r>
              <a:t>Strong demand for intelligent monitoring</a:t>
            </a:r>
          </a:p>
          <a:p>
            <a:pPr marL="359663" indent="-359663" defTabSz="1438619">
              <a:spcBef>
                <a:spcPts val="2600"/>
              </a:spcBef>
              <a:defRPr b="1" sz="2832"/>
            </a:pPr>
          </a:p>
          <a:p>
            <a:pPr marL="359663" indent="-359663" defTabSz="1438619">
              <a:spcBef>
                <a:spcPts val="2600"/>
              </a:spcBef>
              <a:defRPr b="1" sz="2832"/>
            </a:pPr>
            <a:r>
              <a:t>Common Theme</a:t>
            </a:r>
          </a:p>
          <a:p>
            <a:pPr lvl="1" marL="719327" indent="-359663" defTabSz="1438619">
              <a:spcBef>
                <a:spcPts val="2600"/>
              </a:spcBef>
              <a:defRPr sz="2832"/>
            </a:pPr>
            <a:r>
              <a:t>AI systems that supplement—not replace—human decision makers appear most likely to achieve enterprise and public adoption and acceptance. </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Thank you!"/>
          <p:cNvSpPr txBox="1"/>
          <p:nvPr>
            <p:ph type="body" sz="half" idx="1"/>
          </p:nvPr>
        </p:nvSpPr>
        <p:spPr>
          <a:prstGeom prst="rect">
            <a:avLst/>
          </a:prstGeom>
        </p:spPr>
        <p:txBody>
          <a:body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fast" advClick="1" p14:dur="750">
        <p:push dir="l"/>
      </p:transition>
    </mc:Choice>
    <mc:Fallback>
      <p:transition spd="fast">
        <p:fade/>
      </p:transition>
    </mc:Fallback>
  </mc:AlternateContent>
</p:sld>
</file>

<file path=ppt/theme/theme1.xml><?xml version="1.0" encoding="utf-8"?>
<a:theme xmlns:a="http://schemas.openxmlformats.org/drawingml/2006/main" xmlns:r="http://schemas.openxmlformats.org/officeDocument/2006/relationships" name="33_DynamicLight">
  <a:themeElements>
    <a:clrScheme name="33_DynamicLight">
      <a:dk1>
        <a:srgbClr val="5E5E5E"/>
      </a:dk1>
      <a:lt1>
        <a:srgbClr val="005E0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3_DynamicLight">
  <a:themeElements>
    <a:clrScheme name="33_DynamicLight">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